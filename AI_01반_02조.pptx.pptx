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rimo Bold" charset="1" panose="020B0704020202020204"/>
      <p:regular r:id="rId12"/>
    </p:embeddedFont>
    <p:embeddedFont>
      <p:font typeface="Arimo" charset="1" panose="020B0604020202020204"/>
      <p:regular r:id="rId13"/>
    </p:embeddedFont>
    <p:embeddedFont>
      <p:font typeface="Arial Bold" charset="1" panose="020B0802020202020204"/>
      <p:regular r:id="rId14"/>
    </p:embeddedFont>
    <p:embeddedFont>
      <p:font typeface="TT Rounds Condensed Bold" charset="1" panose="02000806030000020003"/>
      <p:regular r:id="rId18"/>
    </p:embeddedFont>
    <p:embeddedFont>
      <p:font typeface="Arial" charset="1" panose="020B0502020202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pn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7.pn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30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"/>
            <a:ext cx="18288000" cy="10286998"/>
            <a:chOff x="0" y="0"/>
            <a:chExt cx="24384000" cy="137159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985" cy="13715746"/>
            </a:xfrm>
            <a:custGeom>
              <a:avLst/>
              <a:gdLst/>
              <a:ahLst/>
              <a:cxnLst/>
              <a:rect r="r" b="b" t="t" l="l"/>
              <a:pathLst>
                <a:path h="13715746" w="24382985">
                  <a:moveTo>
                    <a:pt x="24382985" y="0"/>
                  </a:moveTo>
                  <a:lnTo>
                    <a:pt x="0" y="0"/>
                  </a:lnTo>
                  <a:lnTo>
                    <a:pt x="0" y="13715746"/>
                  </a:lnTo>
                  <a:lnTo>
                    <a:pt x="24382985" y="13715746"/>
                  </a:lnTo>
                  <a:lnTo>
                    <a:pt x="24382985" y="0"/>
                  </a:lnTo>
                  <a:close/>
                </a:path>
              </a:pathLst>
            </a:custGeom>
            <a:solidFill>
              <a:srgbClr val="EBF8F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822666" y="3191421"/>
            <a:ext cx="6648512" cy="3183147"/>
            <a:chOff x="0" y="0"/>
            <a:chExt cx="8864682" cy="42441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864727" cy="4244213"/>
            </a:xfrm>
            <a:custGeom>
              <a:avLst/>
              <a:gdLst/>
              <a:ahLst/>
              <a:cxnLst/>
              <a:rect r="r" b="b" t="t" l="l"/>
              <a:pathLst>
                <a:path h="4244213" w="8864727">
                  <a:moveTo>
                    <a:pt x="0" y="0"/>
                  </a:moveTo>
                  <a:lnTo>
                    <a:pt x="8157337" y="0"/>
                  </a:lnTo>
                  <a:cubicBezTo>
                    <a:pt x="8547989" y="0"/>
                    <a:pt x="8864727" y="316738"/>
                    <a:pt x="8864727" y="707390"/>
                  </a:cubicBezTo>
                  <a:lnTo>
                    <a:pt x="8864727" y="4244213"/>
                  </a:lnTo>
                  <a:lnTo>
                    <a:pt x="0" y="4244213"/>
                  </a:lnTo>
                  <a:close/>
                </a:path>
              </a:pathLst>
            </a:custGeom>
            <a:solidFill>
              <a:srgbClr val="A5DDD9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972800" y="663339"/>
            <a:ext cx="6517029" cy="9633189"/>
          </a:xfrm>
          <a:custGeom>
            <a:avLst/>
            <a:gdLst/>
            <a:ahLst/>
            <a:cxnLst/>
            <a:rect r="r" b="b" t="t" l="l"/>
            <a:pathLst>
              <a:path h="9633189" w="6517029">
                <a:moveTo>
                  <a:pt x="0" y="0"/>
                </a:moveTo>
                <a:lnTo>
                  <a:pt x="6517029" y="0"/>
                </a:lnTo>
                <a:lnTo>
                  <a:pt x="6517029" y="9633189"/>
                </a:lnTo>
                <a:lnTo>
                  <a:pt x="0" y="96331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317390" y="-22464"/>
            <a:ext cx="3416895" cy="988324"/>
          </a:xfrm>
          <a:custGeom>
            <a:avLst/>
            <a:gdLst/>
            <a:ahLst/>
            <a:cxnLst/>
            <a:rect r="r" b="b" t="t" l="l"/>
            <a:pathLst>
              <a:path h="988324" w="3416895">
                <a:moveTo>
                  <a:pt x="0" y="0"/>
                </a:moveTo>
                <a:lnTo>
                  <a:pt x="3416894" y="0"/>
                </a:lnTo>
                <a:lnTo>
                  <a:pt x="3416894" y="988324"/>
                </a:lnTo>
                <a:lnTo>
                  <a:pt x="0" y="9883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591476" y="-22464"/>
            <a:ext cx="2867636" cy="828573"/>
          </a:xfrm>
          <a:custGeom>
            <a:avLst/>
            <a:gdLst/>
            <a:ahLst/>
            <a:cxnLst/>
            <a:rect r="r" b="b" t="t" l="l"/>
            <a:pathLst>
              <a:path h="828573" w="2867636">
                <a:moveTo>
                  <a:pt x="0" y="0"/>
                </a:moveTo>
                <a:lnTo>
                  <a:pt x="2867635" y="0"/>
                </a:lnTo>
                <a:lnTo>
                  <a:pt x="2867635" y="828573"/>
                </a:lnTo>
                <a:lnTo>
                  <a:pt x="0" y="8285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16453" y="287503"/>
            <a:ext cx="207519" cy="128539"/>
          </a:xfrm>
          <a:custGeom>
            <a:avLst/>
            <a:gdLst/>
            <a:ahLst/>
            <a:cxnLst/>
            <a:rect r="r" b="b" t="t" l="l"/>
            <a:pathLst>
              <a:path h="128539" w="207519">
                <a:moveTo>
                  <a:pt x="0" y="0"/>
                </a:moveTo>
                <a:lnTo>
                  <a:pt x="207519" y="0"/>
                </a:lnTo>
                <a:lnTo>
                  <a:pt x="207519" y="128539"/>
                </a:lnTo>
                <a:lnTo>
                  <a:pt x="0" y="1285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30715" y="1967575"/>
            <a:ext cx="207519" cy="128539"/>
          </a:xfrm>
          <a:custGeom>
            <a:avLst/>
            <a:gdLst/>
            <a:ahLst/>
            <a:cxnLst/>
            <a:rect r="r" b="b" t="t" l="l"/>
            <a:pathLst>
              <a:path h="128539" w="207519">
                <a:moveTo>
                  <a:pt x="0" y="0"/>
                </a:moveTo>
                <a:lnTo>
                  <a:pt x="207519" y="0"/>
                </a:lnTo>
                <a:lnTo>
                  <a:pt x="207519" y="128539"/>
                </a:lnTo>
                <a:lnTo>
                  <a:pt x="0" y="1285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12029" y="2216366"/>
            <a:ext cx="207519" cy="128539"/>
          </a:xfrm>
          <a:custGeom>
            <a:avLst/>
            <a:gdLst/>
            <a:ahLst/>
            <a:cxnLst/>
            <a:rect r="r" b="b" t="t" l="l"/>
            <a:pathLst>
              <a:path h="128539" w="207519">
                <a:moveTo>
                  <a:pt x="0" y="0"/>
                </a:moveTo>
                <a:lnTo>
                  <a:pt x="207519" y="0"/>
                </a:lnTo>
                <a:lnTo>
                  <a:pt x="207519" y="128540"/>
                </a:lnTo>
                <a:lnTo>
                  <a:pt x="0" y="1285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00357" y="7425700"/>
            <a:ext cx="207519" cy="128539"/>
          </a:xfrm>
          <a:custGeom>
            <a:avLst/>
            <a:gdLst/>
            <a:ahLst/>
            <a:cxnLst/>
            <a:rect r="r" b="b" t="t" l="l"/>
            <a:pathLst>
              <a:path h="128539" w="207519">
                <a:moveTo>
                  <a:pt x="0" y="0"/>
                </a:moveTo>
                <a:lnTo>
                  <a:pt x="207519" y="0"/>
                </a:lnTo>
                <a:lnTo>
                  <a:pt x="207519" y="128539"/>
                </a:lnTo>
                <a:lnTo>
                  <a:pt x="0" y="1285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334412" y="9584789"/>
            <a:ext cx="207519" cy="128539"/>
          </a:xfrm>
          <a:custGeom>
            <a:avLst/>
            <a:gdLst/>
            <a:ahLst/>
            <a:cxnLst/>
            <a:rect r="r" b="b" t="t" l="l"/>
            <a:pathLst>
              <a:path h="128539" w="207519">
                <a:moveTo>
                  <a:pt x="0" y="0"/>
                </a:moveTo>
                <a:lnTo>
                  <a:pt x="207519" y="0"/>
                </a:lnTo>
                <a:lnTo>
                  <a:pt x="207519" y="128540"/>
                </a:lnTo>
                <a:lnTo>
                  <a:pt x="0" y="1285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689999" y="5725489"/>
            <a:ext cx="207519" cy="128539"/>
          </a:xfrm>
          <a:custGeom>
            <a:avLst/>
            <a:gdLst/>
            <a:ahLst/>
            <a:cxnLst/>
            <a:rect r="r" b="b" t="t" l="l"/>
            <a:pathLst>
              <a:path h="128539" w="207519">
                <a:moveTo>
                  <a:pt x="0" y="0"/>
                </a:moveTo>
                <a:lnTo>
                  <a:pt x="207519" y="0"/>
                </a:lnTo>
                <a:lnTo>
                  <a:pt x="207519" y="128539"/>
                </a:lnTo>
                <a:lnTo>
                  <a:pt x="0" y="1285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069274" y="3134075"/>
            <a:ext cx="207519" cy="128539"/>
          </a:xfrm>
          <a:custGeom>
            <a:avLst/>
            <a:gdLst/>
            <a:ahLst/>
            <a:cxnLst/>
            <a:rect r="r" b="b" t="t" l="l"/>
            <a:pathLst>
              <a:path h="128539" w="207519">
                <a:moveTo>
                  <a:pt x="0" y="0"/>
                </a:moveTo>
                <a:lnTo>
                  <a:pt x="207519" y="0"/>
                </a:lnTo>
                <a:lnTo>
                  <a:pt x="207519" y="128540"/>
                </a:lnTo>
                <a:lnTo>
                  <a:pt x="0" y="1285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2995166" y="10257008"/>
            <a:ext cx="308037" cy="26229"/>
            <a:chOff x="0" y="0"/>
            <a:chExt cx="410716" cy="349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1430" y="0"/>
              <a:ext cx="387858" cy="34544"/>
            </a:xfrm>
            <a:custGeom>
              <a:avLst/>
              <a:gdLst/>
              <a:ahLst/>
              <a:cxnLst/>
              <a:rect r="r" b="b" t="t" l="l"/>
              <a:pathLst>
                <a:path h="34544" w="387858">
                  <a:moveTo>
                    <a:pt x="0" y="9271"/>
                  </a:moveTo>
                  <a:lnTo>
                    <a:pt x="91948" y="0"/>
                  </a:lnTo>
                  <a:lnTo>
                    <a:pt x="93218" y="0"/>
                  </a:lnTo>
                  <a:lnTo>
                    <a:pt x="294513" y="0"/>
                  </a:lnTo>
                  <a:lnTo>
                    <a:pt x="295783" y="0"/>
                  </a:lnTo>
                  <a:lnTo>
                    <a:pt x="387858" y="9144"/>
                  </a:lnTo>
                  <a:lnTo>
                    <a:pt x="385318" y="34417"/>
                  </a:lnTo>
                  <a:lnTo>
                    <a:pt x="293243" y="25400"/>
                  </a:lnTo>
                  <a:lnTo>
                    <a:pt x="294513" y="12700"/>
                  </a:lnTo>
                  <a:lnTo>
                    <a:pt x="294513" y="25400"/>
                  </a:lnTo>
                  <a:lnTo>
                    <a:pt x="93218" y="25400"/>
                  </a:lnTo>
                  <a:lnTo>
                    <a:pt x="93218" y="12700"/>
                  </a:lnTo>
                  <a:lnTo>
                    <a:pt x="94488" y="25400"/>
                  </a:lnTo>
                  <a:lnTo>
                    <a:pt x="2540" y="34544"/>
                  </a:lnTo>
                  <a:close/>
                </a:path>
              </a:pathLst>
            </a:custGeom>
            <a:solidFill>
              <a:srgbClr val="009D95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86219" y="-2"/>
            <a:ext cx="2409922" cy="2006061"/>
            <a:chOff x="0" y="0"/>
            <a:chExt cx="3213230" cy="267474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6604" y="1651"/>
              <a:ext cx="3204591" cy="2671445"/>
            </a:xfrm>
            <a:custGeom>
              <a:avLst/>
              <a:gdLst/>
              <a:ahLst/>
              <a:cxnLst/>
              <a:rect r="r" b="b" t="t" l="l"/>
              <a:pathLst>
                <a:path h="2671445" w="3204591">
                  <a:moveTo>
                    <a:pt x="1587500" y="0"/>
                  </a:moveTo>
                  <a:lnTo>
                    <a:pt x="3198114" y="896112"/>
                  </a:lnTo>
                  <a:cubicBezTo>
                    <a:pt x="3202178" y="898398"/>
                    <a:pt x="3204591" y="902589"/>
                    <a:pt x="3204591" y="907288"/>
                  </a:cubicBezTo>
                  <a:cubicBezTo>
                    <a:pt x="3204591" y="911987"/>
                    <a:pt x="3202051" y="916178"/>
                    <a:pt x="3197987" y="918337"/>
                  </a:cubicBezTo>
                  <a:lnTo>
                    <a:pt x="12192" y="2671445"/>
                  </a:lnTo>
                  <a:lnTo>
                    <a:pt x="0" y="2649220"/>
                  </a:lnTo>
                  <a:lnTo>
                    <a:pt x="3185795" y="896112"/>
                  </a:lnTo>
                  <a:lnTo>
                    <a:pt x="3191891" y="907288"/>
                  </a:lnTo>
                  <a:lnTo>
                    <a:pt x="3185668" y="918337"/>
                  </a:lnTo>
                  <a:lnTo>
                    <a:pt x="1575181" y="22098"/>
                  </a:lnTo>
                  <a:close/>
                </a:path>
              </a:pathLst>
            </a:custGeom>
            <a:solidFill>
              <a:srgbClr val="009D95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-28575" y="65930"/>
            <a:ext cx="6342666" cy="3626904"/>
            <a:chOff x="0" y="0"/>
            <a:chExt cx="8456888" cy="48358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6350" y="1651"/>
              <a:ext cx="8443468" cy="4831588"/>
            </a:xfrm>
            <a:custGeom>
              <a:avLst/>
              <a:gdLst/>
              <a:ahLst/>
              <a:cxnLst/>
              <a:rect r="r" b="b" t="t" l="l"/>
              <a:pathLst>
                <a:path h="4831588" w="8443468">
                  <a:moveTo>
                    <a:pt x="8443468" y="22098"/>
                  </a:moveTo>
                  <a:lnTo>
                    <a:pt x="12700" y="4831588"/>
                  </a:lnTo>
                  <a:lnTo>
                    <a:pt x="0" y="4809617"/>
                  </a:lnTo>
                  <a:lnTo>
                    <a:pt x="8430895" y="0"/>
                  </a:lnTo>
                  <a:close/>
                </a:path>
              </a:pathLst>
            </a:custGeom>
            <a:solidFill>
              <a:srgbClr val="009D95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-9524" y="2580764"/>
            <a:ext cx="1779899" cy="571893"/>
            <a:chOff x="0" y="0"/>
            <a:chExt cx="2373198" cy="76252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6477" y="-254"/>
              <a:ext cx="2353818" cy="760730"/>
            </a:xfrm>
            <a:custGeom>
              <a:avLst/>
              <a:gdLst/>
              <a:ahLst/>
              <a:cxnLst/>
              <a:rect r="r" b="b" t="t" l="l"/>
              <a:pathLst>
                <a:path h="760730" w="2353818">
                  <a:moveTo>
                    <a:pt x="2350897" y="143637"/>
                  </a:moveTo>
                  <a:lnTo>
                    <a:pt x="1303147" y="25654"/>
                  </a:lnTo>
                  <a:lnTo>
                    <a:pt x="1304544" y="13081"/>
                  </a:lnTo>
                  <a:lnTo>
                    <a:pt x="1310767" y="24130"/>
                  </a:lnTo>
                  <a:lnTo>
                    <a:pt x="12446" y="760730"/>
                  </a:lnTo>
                  <a:lnTo>
                    <a:pt x="0" y="738632"/>
                  </a:lnTo>
                  <a:lnTo>
                    <a:pt x="1298321" y="1905"/>
                  </a:lnTo>
                  <a:cubicBezTo>
                    <a:pt x="1300607" y="635"/>
                    <a:pt x="1303401" y="0"/>
                    <a:pt x="1306068" y="381"/>
                  </a:cubicBezTo>
                  <a:lnTo>
                    <a:pt x="2353818" y="118364"/>
                  </a:lnTo>
                  <a:close/>
                </a:path>
              </a:pathLst>
            </a:custGeom>
            <a:solidFill>
              <a:srgbClr val="009D9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321202" y="3602503"/>
            <a:ext cx="5703663" cy="6619088"/>
            <a:chOff x="0" y="0"/>
            <a:chExt cx="7604884" cy="88254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-127" y="1905"/>
              <a:ext cx="7596759" cy="8820785"/>
            </a:xfrm>
            <a:custGeom>
              <a:avLst/>
              <a:gdLst/>
              <a:ahLst/>
              <a:cxnLst/>
              <a:rect r="r" b="b" t="t" l="l"/>
              <a:pathLst>
                <a:path h="8820785" w="7596759">
                  <a:moveTo>
                    <a:pt x="7421626" y="21590"/>
                  </a:moveTo>
                  <a:lnTo>
                    <a:pt x="19431" y="4538599"/>
                  </a:lnTo>
                  <a:lnTo>
                    <a:pt x="12827" y="4527677"/>
                  </a:lnTo>
                  <a:lnTo>
                    <a:pt x="19050" y="4516628"/>
                  </a:lnTo>
                  <a:lnTo>
                    <a:pt x="7596759" y="8798687"/>
                  </a:lnTo>
                  <a:lnTo>
                    <a:pt x="7584313" y="8820785"/>
                  </a:lnTo>
                  <a:lnTo>
                    <a:pt x="6604" y="4538726"/>
                  </a:lnTo>
                  <a:cubicBezTo>
                    <a:pt x="2667" y="4536567"/>
                    <a:pt x="254" y="4532376"/>
                    <a:pt x="127" y="4527931"/>
                  </a:cubicBezTo>
                  <a:cubicBezTo>
                    <a:pt x="0" y="4523486"/>
                    <a:pt x="2413" y="4519168"/>
                    <a:pt x="6223" y="4516882"/>
                  </a:cubicBezTo>
                  <a:lnTo>
                    <a:pt x="7408291" y="0"/>
                  </a:lnTo>
                  <a:close/>
                </a:path>
              </a:pathLst>
            </a:custGeom>
            <a:solidFill>
              <a:srgbClr val="009D95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387413" y="7575648"/>
            <a:ext cx="1740409" cy="2707889"/>
            <a:chOff x="0" y="0"/>
            <a:chExt cx="2320546" cy="361051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1905"/>
              <a:ext cx="2313940" cy="3595116"/>
            </a:xfrm>
            <a:custGeom>
              <a:avLst/>
              <a:gdLst/>
              <a:ahLst/>
              <a:cxnLst/>
              <a:rect r="r" b="b" t="t" l="l"/>
              <a:pathLst>
                <a:path h="3595116" w="2313940">
                  <a:moveTo>
                    <a:pt x="2313940" y="21590"/>
                  </a:moveTo>
                  <a:lnTo>
                    <a:pt x="19304" y="1415669"/>
                  </a:lnTo>
                  <a:lnTo>
                    <a:pt x="12700" y="1404874"/>
                  </a:lnTo>
                  <a:lnTo>
                    <a:pt x="25400" y="1404874"/>
                  </a:lnTo>
                  <a:lnTo>
                    <a:pt x="25400" y="3595116"/>
                  </a:lnTo>
                  <a:lnTo>
                    <a:pt x="0" y="3595116"/>
                  </a:lnTo>
                  <a:lnTo>
                    <a:pt x="0" y="1404874"/>
                  </a:lnTo>
                  <a:cubicBezTo>
                    <a:pt x="0" y="1400429"/>
                    <a:pt x="2286" y="1396365"/>
                    <a:pt x="6096" y="1394079"/>
                  </a:cubicBezTo>
                  <a:lnTo>
                    <a:pt x="2300732" y="0"/>
                  </a:lnTo>
                  <a:close/>
                </a:path>
              </a:pathLst>
            </a:custGeom>
            <a:solidFill>
              <a:srgbClr val="009D95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03497" y="341661"/>
            <a:ext cx="2558907" cy="699337"/>
            <a:chOff x="0" y="0"/>
            <a:chExt cx="3411876" cy="9324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1430" y="0"/>
              <a:ext cx="3393186" cy="928624"/>
            </a:xfrm>
            <a:custGeom>
              <a:avLst/>
              <a:gdLst/>
              <a:ahLst/>
              <a:cxnLst/>
              <a:rect r="r" b="b" t="t" l="l"/>
              <a:pathLst>
                <a:path h="928624" w="3393186">
                  <a:moveTo>
                    <a:pt x="3380105" y="928624"/>
                  </a:moveTo>
                  <a:lnTo>
                    <a:pt x="2244852" y="247142"/>
                  </a:lnTo>
                  <a:lnTo>
                    <a:pt x="2251329" y="236220"/>
                  </a:lnTo>
                  <a:lnTo>
                    <a:pt x="2250059" y="248920"/>
                  </a:lnTo>
                  <a:lnTo>
                    <a:pt x="0" y="25400"/>
                  </a:lnTo>
                  <a:lnTo>
                    <a:pt x="2540" y="0"/>
                  </a:lnTo>
                  <a:lnTo>
                    <a:pt x="2252599" y="223520"/>
                  </a:lnTo>
                  <a:cubicBezTo>
                    <a:pt x="2254504" y="223647"/>
                    <a:pt x="2256282" y="224282"/>
                    <a:pt x="2257933" y="225298"/>
                  </a:cubicBezTo>
                  <a:lnTo>
                    <a:pt x="3393186" y="906780"/>
                  </a:lnTo>
                  <a:close/>
                </a:path>
              </a:pathLst>
            </a:custGeom>
            <a:solidFill>
              <a:srgbClr val="009D95"/>
            </a:solidFill>
          </p:spPr>
        </p:sp>
      </p:grpSp>
      <p:sp>
        <p:nvSpPr>
          <p:cNvPr name="Freeform 30" id="30"/>
          <p:cNvSpPr/>
          <p:nvPr/>
        </p:nvSpPr>
        <p:spPr>
          <a:xfrm flipH="false" flipV="false" rot="0">
            <a:off x="14953084" y="3833047"/>
            <a:ext cx="3348079" cy="2583726"/>
          </a:xfrm>
          <a:custGeom>
            <a:avLst/>
            <a:gdLst/>
            <a:ahLst/>
            <a:cxnLst/>
            <a:rect r="r" b="b" t="t" l="l"/>
            <a:pathLst>
              <a:path h="2583726" w="3348079">
                <a:moveTo>
                  <a:pt x="0" y="0"/>
                </a:moveTo>
                <a:lnTo>
                  <a:pt x="3348079" y="0"/>
                </a:lnTo>
                <a:lnTo>
                  <a:pt x="3348079" y="2583726"/>
                </a:lnTo>
                <a:lnTo>
                  <a:pt x="0" y="25837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1951374" y="7837563"/>
            <a:ext cx="643690" cy="399581"/>
            <a:chOff x="0" y="0"/>
            <a:chExt cx="858254" cy="53277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6096" y="1905"/>
              <a:ext cx="845820" cy="528320"/>
            </a:xfrm>
            <a:custGeom>
              <a:avLst/>
              <a:gdLst/>
              <a:ahLst/>
              <a:cxnLst/>
              <a:rect r="r" b="b" t="t" l="l"/>
              <a:pathLst>
                <a:path h="528320" w="845820">
                  <a:moveTo>
                    <a:pt x="845820" y="21590"/>
                  </a:moveTo>
                  <a:lnTo>
                    <a:pt x="13208" y="528320"/>
                  </a:lnTo>
                  <a:lnTo>
                    <a:pt x="0" y="506603"/>
                  </a:lnTo>
                  <a:lnTo>
                    <a:pt x="832612" y="0"/>
                  </a:lnTo>
                  <a:close/>
                </a:path>
              </a:pathLst>
            </a:custGeom>
            <a:solidFill>
              <a:srgbClr val="009D95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641712" y="8181908"/>
            <a:ext cx="403170" cy="241624"/>
            <a:chOff x="0" y="0"/>
            <a:chExt cx="537560" cy="32216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-508"/>
              <a:ext cx="535432" cy="322326"/>
            </a:xfrm>
            <a:custGeom>
              <a:avLst/>
              <a:gdLst/>
              <a:ahLst/>
              <a:cxnLst/>
              <a:rect r="r" b="b" t="t" l="l"/>
              <a:pathLst>
                <a:path h="322326" w="535432">
                  <a:moveTo>
                    <a:pt x="529209" y="123190"/>
                  </a:moveTo>
                  <a:lnTo>
                    <a:pt x="190627" y="320040"/>
                  </a:lnTo>
                  <a:cubicBezTo>
                    <a:pt x="186690" y="322326"/>
                    <a:pt x="181864" y="322326"/>
                    <a:pt x="177927" y="320040"/>
                  </a:cubicBezTo>
                  <a:lnTo>
                    <a:pt x="6350" y="220980"/>
                  </a:lnTo>
                  <a:cubicBezTo>
                    <a:pt x="2413" y="218694"/>
                    <a:pt x="0" y="214503"/>
                    <a:pt x="0" y="210058"/>
                  </a:cubicBezTo>
                  <a:cubicBezTo>
                    <a:pt x="0" y="205613"/>
                    <a:pt x="2413" y="201295"/>
                    <a:pt x="6350" y="199009"/>
                  </a:cubicBezTo>
                  <a:lnTo>
                    <a:pt x="344932" y="2286"/>
                  </a:lnTo>
                  <a:cubicBezTo>
                    <a:pt x="348869" y="0"/>
                    <a:pt x="353695" y="0"/>
                    <a:pt x="357632" y="2286"/>
                  </a:cubicBezTo>
                  <a:lnTo>
                    <a:pt x="529082" y="101346"/>
                  </a:lnTo>
                  <a:cubicBezTo>
                    <a:pt x="533019" y="103632"/>
                    <a:pt x="535432" y="107823"/>
                    <a:pt x="535432" y="112268"/>
                  </a:cubicBezTo>
                  <a:cubicBezTo>
                    <a:pt x="535432" y="116713"/>
                    <a:pt x="533019" y="121031"/>
                    <a:pt x="529082" y="123317"/>
                  </a:cubicBezTo>
                  <a:moveTo>
                    <a:pt x="516382" y="101346"/>
                  </a:moveTo>
                  <a:lnTo>
                    <a:pt x="522732" y="112268"/>
                  </a:lnTo>
                  <a:lnTo>
                    <a:pt x="516382" y="123317"/>
                  </a:lnTo>
                  <a:lnTo>
                    <a:pt x="344932" y="24257"/>
                  </a:lnTo>
                  <a:lnTo>
                    <a:pt x="351282" y="13208"/>
                  </a:lnTo>
                  <a:lnTo>
                    <a:pt x="357632" y="24130"/>
                  </a:lnTo>
                  <a:lnTo>
                    <a:pt x="19050" y="220980"/>
                  </a:lnTo>
                  <a:lnTo>
                    <a:pt x="12700" y="210058"/>
                  </a:lnTo>
                  <a:lnTo>
                    <a:pt x="19050" y="199009"/>
                  </a:lnTo>
                  <a:lnTo>
                    <a:pt x="190500" y="298069"/>
                  </a:lnTo>
                  <a:lnTo>
                    <a:pt x="184150" y="309118"/>
                  </a:lnTo>
                  <a:lnTo>
                    <a:pt x="177800" y="298196"/>
                  </a:lnTo>
                  <a:lnTo>
                    <a:pt x="516509" y="101219"/>
                  </a:lnTo>
                  <a:close/>
                </a:path>
              </a:pathLst>
            </a:custGeom>
            <a:solidFill>
              <a:srgbClr val="009D95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2193918" y="7975183"/>
            <a:ext cx="643691" cy="399581"/>
            <a:chOff x="0" y="0"/>
            <a:chExt cx="858254" cy="53277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6096" y="1905"/>
              <a:ext cx="845820" cy="528320"/>
            </a:xfrm>
            <a:custGeom>
              <a:avLst/>
              <a:gdLst/>
              <a:ahLst/>
              <a:cxnLst/>
              <a:rect r="r" b="b" t="t" l="l"/>
              <a:pathLst>
                <a:path h="528320" w="845820">
                  <a:moveTo>
                    <a:pt x="845820" y="21590"/>
                  </a:moveTo>
                  <a:lnTo>
                    <a:pt x="13208" y="528320"/>
                  </a:lnTo>
                  <a:lnTo>
                    <a:pt x="0" y="506603"/>
                  </a:lnTo>
                  <a:lnTo>
                    <a:pt x="832612" y="0"/>
                  </a:lnTo>
                  <a:close/>
                </a:path>
              </a:pathLst>
            </a:custGeom>
            <a:solidFill>
              <a:srgbClr val="009D95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884257" y="8319534"/>
            <a:ext cx="403170" cy="241624"/>
            <a:chOff x="0" y="0"/>
            <a:chExt cx="537560" cy="32216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-508"/>
              <a:ext cx="535432" cy="322326"/>
            </a:xfrm>
            <a:custGeom>
              <a:avLst/>
              <a:gdLst/>
              <a:ahLst/>
              <a:cxnLst/>
              <a:rect r="r" b="b" t="t" l="l"/>
              <a:pathLst>
                <a:path h="322326" w="535432">
                  <a:moveTo>
                    <a:pt x="529209" y="123190"/>
                  </a:moveTo>
                  <a:lnTo>
                    <a:pt x="190627" y="320040"/>
                  </a:lnTo>
                  <a:cubicBezTo>
                    <a:pt x="186690" y="322326"/>
                    <a:pt x="181864" y="322326"/>
                    <a:pt x="177927" y="320040"/>
                  </a:cubicBezTo>
                  <a:lnTo>
                    <a:pt x="6350" y="220980"/>
                  </a:lnTo>
                  <a:cubicBezTo>
                    <a:pt x="2413" y="218694"/>
                    <a:pt x="0" y="214503"/>
                    <a:pt x="0" y="210058"/>
                  </a:cubicBezTo>
                  <a:cubicBezTo>
                    <a:pt x="0" y="205613"/>
                    <a:pt x="2413" y="201295"/>
                    <a:pt x="6350" y="199009"/>
                  </a:cubicBezTo>
                  <a:lnTo>
                    <a:pt x="344932" y="2286"/>
                  </a:lnTo>
                  <a:cubicBezTo>
                    <a:pt x="348869" y="0"/>
                    <a:pt x="353695" y="0"/>
                    <a:pt x="357632" y="2286"/>
                  </a:cubicBezTo>
                  <a:lnTo>
                    <a:pt x="529082" y="101346"/>
                  </a:lnTo>
                  <a:cubicBezTo>
                    <a:pt x="533019" y="103632"/>
                    <a:pt x="535432" y="107823"/>
                    <a:pt x="535432" y="112268"/>
                  </a:cubicBezTo>
                  <a:cubicBezTo>
                    <a:pt x="535432" y="116713"/>
                    <a:pt x="533019" y="121031"/>
                    <a:pt x="529082" y="123317"/>
                  </a:cubicBezTo>
                  <a:moveTo>
                    <a:pt x="516382" y="101346"/>
                  </a:moveTo>
                  <a:lnTo>
                    <a:pt x="522732" y="112268"/>
                  </a:lnTo>
                  <a:lnTo>
                    <a:pt x="516382" y="123317"/>
                  </a:lnTo>
                  <a:lnTo>
                    <a:pt x="344932" y="24257"/>
                  </a:lnTo>
                  <a:lnTo>
                    <a:pt x="351282" y="13208"/>
                  </a:lnTo>
                  <a:lnTo>
                    <a:pt x="357632" y="24130"/>
                  </a:lnTo>
                  <a:lnTo>
                    <a:pt x="19050" y="220980"/>
                  </a:lnTo>
                  <a:lnTo>
                    <a:pt x="12700" y="210058"/>
                  </a:lnTo>
                  <a:lnTo>
                    <a:pt x="19050" y="199009"/>
                  </a:lnTo>
                  <a:lnTo>
                    <a:pt x="190500" y="298069"/>
                  </a:lnTo>
                  <a:lnTo>
                    <a:pt x="184150" y="309118"/>
                  </a:lnTo>
                  <a:lnTo>
                    <a:pt x="177800" y="298196"/>
                  </a:lnTo>
                  <a:lnTo>
                    <a:pt x="516509" y="101219"/>
                  </a:lnTo>
                  <a:close/>
                </a:path>
              </a:pathLst>
            </a:custGeom>
            <a:solidFill>
              <a:srgbClr val="009D95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2436463" y="8112816"/>
            <a:ext cx="643691" cy="399581"/>
            <a:chOff x="0" y="0"/>
            <a:chExt cx="858254" cy="53277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6096" y="1905"/>
              <a:ext cx="845820" cy="528320"/>
            </a:xfrm>
            <a:custGeom>
              <a:avLst/>
              <a:gdLst/>
              <a:ahLst/>
              <a:cxnLst/>
              <a:rect r="r" b="b" t="t" l="l"/>
              <a:pathLst>
                <a:path h="528320" w="845820">
                  <a:moveTo>
                    <a:pt x="845820" y="21590"/>
                  </a:moveTo>
                  <a:lnTo>
                    <a:pt x="13208" y="528320"/>
                  </a:lnTo>
                  <a:lnTo>
                    <a:pt x="0" y="506603"/>
                  </a:lnTo>
                  <a:lnTo>
                    <a:pt x="832612" y="0"/>
                  </a:lnTo>
                  <a:close/>
                </a:path>
              </a:pathLst>
            </a:custGeom>
            <a:solidFill>
              <a:srgbClr val="009D95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2490081" y="8661924"/>
            <a:ext cx="1559120" cy="956013"/>
            <a:chOff x="0" y="0"/>
            <a:chExt cx="2078826" cy="127468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6096" y="1905"/>
              <a:ext cx="2064385" cy="1269746"/>
            </a:xfrm>
            <a:custGeom>
              <a:avLst/>
              <a:gdLst/>
              <a:ahLst/>
              <a:cxnLst/>
              <a:rect r="r" b="b" t="t" l="l"/>
              <a:pathLst>
                <a:path h="1269746" w="2064385">
                  <a:moveTo>
                    <a:pt x="2064385" y="21590"/>
                  </a:moveTo>
                  <a:lnTo>
                    <a:pt x="13208" y="1269746"/>
                  </a:lnTo>
                  <a:lnTo>
                    <a:pt x="0" y="1248029"/>
                  </a:lnTo>
                  <a:lnTo>
                    <a:pt x="2051177" y="0"/>
                  </a:lnTo>
                  <a:close/>
                </a:path>
              </a:pathLst>
            </a:custGeom>
            <a:solidFill>
              <a:srgbClr val="009D95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2126800" y="8457162"/>
            <a:ext cx="403170" cy="241624"/>
            <a:chOff x="0" y="0"/>
            <a:chExt cx="537560" cy="32216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-508"/>
              <a:ext cx="535432" cy="322326"/>
            </a:xfrm>
            <a:custGeom>
              <a:avLst/>
              <a:gdLst/>
              <a:ahLst/>
              <a:cxnLst/>
              <a:rect r="r" b="b" t="t" l="l"/>
              <a:pathLst>
                <a:path h="322326" w="535432">
                  <a:moveTo>
                    <a:pt x="529209" y="123190"/>
                  </a:moveTo>
                  <a:lnTo>
                    <a:pt x="190627" y="320040"/>
                  </a:lnTo>
                  <a:cubicBezTo>
                    <a:pt x="186690" y="322326"/>
                    <a:pt x="181864" y="322326"/>
                    <a:pt x="177927" y="320040"/>
                  </a:cubicBezTo>
                  <a:lnTo>
                    <a:pt x="6350" y="220980"/>
                  </a:lnTo>
                  <a:cubicBezTo>
                    <a:pt x="2413" y="218694"/>
                    <a:pt x="0" y="214503"/>
                    <a:pt x="0" y="210058"/>
                  </a:cubicBezTo>
                  <a:cubicBezTo>
                    <a:pt x="0" y="205613"/>
                    <a:pt x="2413" y="201295"/>
                    <a:pt x="6350" y="199009"/>
                  </a:cubicBezTo>
                  <a:lnTo>
                    <a:pt x="344932" y="2286"/>
                  </a:lnTo>
                  <a:cubicBezTo>
                    <a:pt x="348869" y="0"/>
                    <a:pt x="353695" y="0"/>
                    <a:pt x="357632" y="2286"/>
                  </a:cubicBezTo>
                  <a:lnTo>
                    <a:pt x="529082" y="101346"/>
                  </a:lnTo>
                  <a:cubicBezTo>
                    <a:pt x="533019" y="103632"/>
                    <a:pt x="535432" y="107823"/>
                    <a:pt x="535432" y="112268"/>
                  </a:cubicBezTo>
                  <a:cubicBezTo>
                    <a:pt x="535432" y="116713"/>
                    <a:pt x="533019" y="121031"/>
                    <a:pt x="529082" y="123317"/>
                  </a:cubicBezTo>
                  <a:moveTo>
                    <a:pt x="516382" y="101346"/>
                  </a:moveTo>
                  <a:lnTo>
                    <a:pt x="522732" y="112268"/>
                  </a:lnTo>
                  <a:lnTo>
                    <a:pt x="516382" y="123317"/>
                  </a:lnTo>
                  <a:lnTo>
                    <a:pt x="344932" y="24257"/>
                  </a:lnTo>
                  <a:lnTo>
                    <a:pt x="351282" y="13208"/>
                  </a:lnTo>
                  <a:lnTo>
                    <a:pt x="357632" y="24130"/>
                  </a:lnTo>
                  <a:lnTo>
                    <a:pt x="19050" y="220980"/>
                  </a:lnTo>
                  <a:lnTo>
                    <a:pt x="12700" y="210058"/>
                  </a:lnTo>
                  <a:lnTo>
                    <a:pt x="19050" y="199009"/>
                  </a:lnTo>
                  <a:lnTo>
                    <a:pt x="190500" y="298069"/>
                  </a:lnTo>
                  <a:lnTo>
                    <a:pt x="184150" y="309118"/>
                  </a:lnTo>
                  <a:lnTo>
                    <a:pt x="177800" y="298196"/>
                  </a:lnTo>
                  <a:lnTo>
                    <a:pt x="516509" y="101219"/>
                  </a:lnTo>
                  <a:close/>
                </a:path>
              </a:pathLst>
            </a:custGeom>
            <a:solidFill>
              <a:srgbClr val="009D95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499072" y="2270534"/>
            <a:ext cx="1656044" cy="198543"/>
            <a:chOff x="0" y="0"/>
            <a:chExt cx="2208058" cy="26472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11303" y="127"/>
              <a:ext cx="2184400" cy="263906"/>
            </a:xfrm>
            <a:custGeom>
              <a:avLst/>
              <a:gdLst/>
              <a:ahLst/>
              <a:cxnLst/>
              <a:rect r="r" b="b" t="t" l="l"/>
              <a:pathLst>
                <a:path h="263906" w="2184400">
                  <a:moveTo>
                    <a:pt x="2794" y="0"/>
                  </a:moveTo>
                  <a:lnTo>
                    <a:pt x="2184400" y="238633"/>
                  </a:lnTo>
                  <a:lnTo>
                    <a:pt x="2181606" y="263906"/>
                  </a:lnTo>
                  <a:lnTo>
                    <a:pt x="0" y="25146"/>
                  </a:lnTo>
                  <a:close/>
                </a:path>
              </a:pathLst>
            </a:custGeom>
            <a:solidFill>
              <a:srgbClr val="009D95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3142492" y="8881547"/>
            <a:ext cx="1300646" cy="1386802"/>
            <a:chOff x="0" y="0"/>
            <a:chExt cx="1734194" cy="184907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2032"/>
              <a:ext cx="1727327" cy="1832102"/>
            </a:xfrm>
            <a:custGeom>
              <a:avLst/>
              <a:gdLst/>
              <a:ahLst/>
              <a:cxnLst/>
              <a:rect r="r" b="b" t="t" l="l"/>
              <a:pathLst>
                <a:path h="1832102" w="1727327">
                  <a:moveTo>
                    <a:pt x="1727327" y="21336"/>
                  </a:moveTo>
                  <a:lnTo>
                    <a:pt x="19558" y="1125601"/>
                  </a:lnTo>
                  <a:lnTo>
                    <a:pt x="12700" y="1114933"/>
                  </a:lnTo>
                  <a:lnTo>
                    <a:pt x="25400" y="1114933"/>
                  </a:lnTo>
                  <a:lnTo>
                    <a:pt x="25400" y="1832102"/>
                  </a:lnTo>
                  <a:lnTo>
                    <a:pt x="0" y="1832102"/>
                  </a:lnTo>
                  <a:lnTo>
                    <a:pt x="0" y="1114933"/>
                  </a:lnTo>
                  <a:cubicBezTo>
                    <a:pt x="0" y="1110615"/>
                    <a:pt x="2159" y="1106551"/>
                    <a:pt x="5842" y="1104265"/>
                  </a:cubicBezTo>
                  <a:lnTo>
                    <a:pt x="1713611" y="0"/>
                  </a:lnTo>
                  <a:close/>
                </a:path>
              </a:pathLst>
            </a:custGeom>
            <a:solidFill>
              <a:srgbClr val="009D95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4185656" y="5819241"/>
            <a:ext cx="8554557" cy="2948314"/>
            <a:chOff x="0" y="0"/>
            <a:chExt cx="11406076" cy="393108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3810" y="2921"/>
              <a:ext cx="11394694" cy="3924300"/>
            </a:xfrm>
            <a:custGeom>
              <a:avLst/>
              <a:gdLst/>
              <a:ahLst/>
              <a:cxnLst/>
              <a:rect r="r" b="b" t="t" l="l"/>
              <a:pathLst>
                <a:path h="3924300" w="11394694">
                  <a:moveTo>
                    <a:pt x="0" y="3906012"/>
                  </a:moveTo>
                  <a:lnTo>
                    <a:pt x="1393571" y="2557653"/>
                  </a:lnTo>
                  <a:cubicBezTo>
                    <a:pt x="1395984" y="2555367"/>
                    <a:pt x="1399159" y="2554097"/>
                    <a:pt x="1402461" y="2554097"/>
                  </a:cubicBezTo>
                  <a:lnTo>
                    <a:pt x="7458329" y="2554097"/>
                  </a:lnTo>
                  <a:lnTo>
                    <a:pt x="7458329" y="2566797"/>
                  </a:lnTo>
                  <a:lnTo>
                    <a:pt x="7458329" y="2554097"/>
                  </a:lnTo>
                  <a:lnTo>
                    <a:pt x="8315706" y="2554097"/>
                  </a:lnTo>
                  <a:lnTo>
                    <a:pt x="8315706" y="2566797"/>
                  </a:lnTo>
                  <a:lnTo>
                    <a:pt x="8307578" y="2557018"/>
                  </a:lnTo>
                  <a:lnTo>
                    <a:pt x="11378438" y="0"/>
                  </a:lnTo>
                  <a:lnTo>
                    <a:pt x="11394694" y="19558"/>
                  </a:lnTo>
                  <a:lnTo>
                    <a:pt x="8323834" y="2576576"/>
                  </a:lnTo>
                  <a:cubicBezTo>
                    <a:pt x="8321548" y="2578481"/>
                    <a:pt x="8318627" y="2579497"/>
                    <a:pt x="8315706" y="2579497"/>
                  </a:cubicBezTo>
                  <a:lnTo>
                    <a:pt x="7458329" y="2579497"/>
                  </a:lnTo>
                  <a:lnTo>
                    <a:pt x="1402461" y="2579497"/>
                  </a:lnTo>
                  <a:lnTo>
                    <a:pt x="1402461" y="2566797"/>
                  </a:lnTo>
                  <a:lnTo>
                    <a:pt x="1411351" y="2575941"/>
                  </a:lnTo>
                  <a:lnTo>
                    <a:pt x="17780" y="3924300"/>
                  </a:lnTo>
                  <a:close/>
                </a:path>
              </a:pathLst>
            </a:custGeom>
            <a:solidFill>
              <a:srgbClr val="009D95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387403" y="7242509"/>
            <a:ext cx="1155254" cy="324190"/>
            <a:chOff x="0" y="0"/>
            <a:chExt cx="1540338" cy="43225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11303" y="1651"/>
              <a:ext cx="1521714" cy="430149"/>
            </a:xfrm>
            <a:custGeom>
              <a:avLst/>
              <a:gdLst/>
              <a:ahLst/>
              <a:cxnLst/>
              <a:rect r="r" b="b" t="t" l="l"/>
              <a:pathLst>
                <a:path h="430149" w="1521714">
                  <a:moveTo>
                    <a:pt x="1521714" y="22098"/>
                  </a:moveTo>
                  <a:lnTo>
                    <a:pt x="815467" y="428244"/>
                  </a:lnTo>
                  <a:cubicBezTo>
                    <a:pt x="813181" y="429641"/>
                    <a:pt x="810387" y="430149"/>
                    <a:pt x="807720" y="429895"/>
                  </a:cubicBezTo>
                  <a:lnTo>
                    <a:pt x="0" y="340106"/>
                  </a:lnTo>
                  <a:lnTo>
                    <a:pt x="2794" y="314833"/>
                  </a:lnTo>
                  <a:lnTo>
                    <a:pt x="810514" y="404495"/>
                  </a:lnTo>
                  <a:lnTo>
                    <a:pt x="809117" y="417068"/>
                  </a:lnTo>
                  <a:lnTo>
                    <a:pt x="802767" y="406019"/>
                  </a:lnTo>
                  <a:lnTo>
                    <a:pt x="1509014" y="0"/>
                  </a:lnTo>
                  <a:close/>
                </a:path>
              </a:pathLst>
            </a:custGeom>
            <a:solidFill>
              <a:srgbClr val="009D95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3996940" y="1772845"/>
            <a:ext cx="8616801" cy="974547"/>
            <a:chOff x="0" y="0"/>
            <a:chExt cx="11489068" cy="129939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845820"/>
              <a:ext cx="495173" cy="452628"/>
            </a:xfrm>
            <a:custGeom>
              <a:avLst/>
              <a:gdLst/>
              <a:ahLst/>
              <a:cxnLst/>
              <a:rect r="r" b="b" t="t" l="l"/>
              <a:pathLst>
                <a:path h="452628" w="495173">
                  <a:moveTo>
                    <a:pt x="495173" y="325374"/>
                  </a:moveTo>
                  <a:lnTo>
                    <a:pt x="247650" y="0"/>
                  </a:lnTo>
                  <a:lnTo>
                    <a:pt x="0" y="197993"/>
                  </a:lnTo>
                  <a:lnTo>
                    <a:pt x="268859" y="452628"/>
                  </a:lnTo>
                  <a:lnTo>
                    <a:pt x="495173" y="325374"/>
                  </a:lnTo>
                  <a:close/>
                </a:path>
              </a:pathLst>
            </a:custGeom>
            <a:solidFill>
              <a:srgbClr val="DF7777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10993501" y="0"/>
              <a:ext cx="495300" cy="452755"/>
            </a:xfrm>
            <a:custGeom>
              <a:avLst/>
              <a:gdLst/>
              <a:ahLst/>
              <a:cxnLst/>
              <a:rect r="r" b="b" t="t" l="l"/>
              <a:pathLst>
                <a:path h="452755" w="495300">
                  <a:moveTo>
                    <a:pt x="495300" y="198120"/>
                  </a:moveTo>
                  <a:lnTo>
                    <a:pt x="247650" y="0"/>
                  </a:lnTo>
                  <a:lnTo>
                    <a:pt x="0" y="325374"/>
                  </a:lnTo>
                  <a:lnTo>
                    <a:pt x="226441" y="452755"/>
                  </a:lnTo>
                  <a:lnTo>
                    <a:pt x="495300" y="198120"/>
                  </a:lnTo>
                  <a:close/>
                </a:path>
              </a:pathLst>
            </a:custGeom>
            <a:solidFill>
              <a:srgbClr val="DF7777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3209820" y="1094654"/>
            <a:ext cx="364131" cy="258368"/>
            <a:chOff x="0" y="0"/>
            <a:chExt cx="485508" cy="34449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83489" cy="342900"/>
            </a:xfrm>
            <a:custGeom>
              <a:avLst/>
              <a:gdLst/>
              <a:ahLst/>
              <a:cxnLst/>
              <a:rect r="r" b="b" t="t" l="l"/>
              <a:pathLst>
                <a:path h="342900" w="483489">
                  <a:moveTo>
                    <a:pt x="375412" y="0"/>
                  </a:moveTo>
                  <a:lnTo>
                    <a:pt x="0" y="159893"/>
                  </a:lnTo>
                  <a:lnTo>
                    <a:pt x="105664" y="342900"/>
                  </a:lnTo>
                  <a:lnTo>
                    <a:pt x="483489" y="187325"/>
                  </a:lnTo>
                  <a:lnTo>
                    <a:pt x="375412" y="0"/>
                  </a:lnTo>
                  <a:close/>
                </a:path>
              </a:pathLst>
            </a:custGeom>
            <a:solidFill>
              <a:srgbClr val="FFCA88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415316" y="6912047"/>
            <a:ext cx="318805" cy="326359"/>
            <a:chOff x="0" y="0"/>
            <a:chExt cx="425074" cy="43514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24561" cy="433705"/>
            </a:xfrm>
            <a:custGeom>
              <a:avLst/>
              <a:gdLst/>
              <a:ahLst/>
              <a:cxnLst/>
              <a:rect r="r" b="b" t="t" l="l"/>
              <a:pathLst>
                <a:path h="433705" w="424561">
                  <a:moveTo>
                    <a:pt x="233553" y="0"/>
                  </a:moveTo>
                  <a:lnTo>
                    <a:pt x="0" y="334518"/>
                  </a:lnTo>
                  <a:lnTo>
                    <a:pt x="186563" y="433705"/>
                  </a:lnTo>
                  <a:lnTo>
                    <a:pt x="424561" y="101473"/>
                  </a:lnTo>
                  <a:lnTo>
                    <a:pt x="233553" y="0"/>
                  </a:lnTo>
                  <a:close/>
                </a:path>
              </a:pathLst>
            </a:custGeom>
            <a:solidFill>
              <a:srgbClr val="4F5EA1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2150502" y="7128738"/>
            <a:ext cx="3021849" cy="1535102"/>
            <a:chOff x="0" y="0"/>
            <a:chExt cx="4029132" cy="204680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55854" cy="433959"/>
            </a:xfrm>
            <a:custGeom>
              <a:avLst/>
              <a:gdLst/>
              <a:ahLst/>
              <a:cxnLst/>
              <a:rect r="r" b="b" t="t" l="l"/>
              <a:pathLst>
                <a:path h="433959" w="355854">
                  <a:moveTo>
                    <a:pt x="355854" y="59690"/>
                  </a:moveTo>
                  <a:lnTo>
                    <a:pt x="147828" y="0"/>
                  </a:lnTo>
                  <a:lnTo>
                    <a:pt x="0" y="349758"/>
                  </a:lnTo>
                  <a:lnTo>
                    <a:pt x="0" y="378968"/>
                  </a:lnTo>
                  <a:lnTo>
                    <a:pt x="192024" y="433959"/>
                  </a:lnTo>
                  <a:lnTo>
                    <a:pt x="355854" y="59690"/>
                  </a:lnTo>
                  <a:close/>
                </a:path>
              </a:pathLst>
            </a:custGeom>
            <a:solidFill>
              <a:srgbClr val="FFCA88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3759327" y="1658239"/>
              <a:ext cx="267970" cy="387731"/>
            </a:xfrm>
            <a:custGeom>
              <a:avLst/>
              <a:gdLst/>
              <a:ahLst/>
              <a:cxnLst/>
              <a:rect r="r" b="b" t="t" l="l"/>
              <a:pathLst>
                <a:path h="387731" w="267970">
                  <a:moveTo>
                    <a:pt x="267970" y="307975"/>
                  </a:moveTo>
                  <a:lnTo>
                    <a:pt x="153543" y="0"/>
                  </a:lnTo>
                  <a:lnTo>
                    <a:pt x="0" y="81661"/>
                  </a:lnTo>
                  <a:lnTo>
                    <a:pt x="117983" y="387731"/>
                  </a:lnTo>
                  <a:lnTo>
                    <a:pt x="267970" y="307975"/>
                  </a:lnTo>
                  <a:close/>
                </a:path>
              </a:pathLst>
            </a:custGeom>
            <a:solidFill>
              <a:srgbClr val="FFCA88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5486323" y="2146340"/>
            <a:ext cx="324849" cy="267434"/>
            <a:chOff x="0" y="0"/>
            <a:chExt cx="433132" cy="35657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32308" cy="355600"/>
            </a:xfrm>
            <a:custGeom>
              <a:avLst/>
              <a:gdLst/>
              <a:ahLst/>
              <a:cxnLst/>
              <a:rect r="r" b="b" t="t" l="l"/>
              <a:pathLst>
                <a:path h="355600" w="432308">
                  <a:moveTo>
                    <a:pt x="52324" y="0"/>
                  </a:moveTo>
                  <a:lnTo>
                    <a:pt x="0" y="209931"/>
                  </a:lnTo>
                  <a:lnTo>
                    <a:pt x="381127" y="355600"/>
                  </a:lnTo>
                  <a:lnTo>
                    <a:pt x="432308" y="150622"/>
                  </a:lnTo>
                  <a:lnTo>
                    <a:pt x="52324" y="0"/>
                  </a:lnTo>
                  <a:close/>
                </a:path>
              </a:pathLst>
            </a:custGeom>
            <a:solidFill>
              <a:srgbClr val="CCD2F5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6998325" y="575030"/>
            <a:ext cx="364131" cy="259880"/>
            <a:chOff x="0" y="0"/>
            <a:chExt cx="485508" cy="34650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84251" cy="346456"/>
            </a:xfrm>
            <a:custGeom>
              <a:avLst/>
              <a:gdLst/>
              <a:ahLst/>
              <a:cxnLst/>
              <a:rect r="r" b="b" t="t" l="l"/>
              <a:pathLst>
                <a:path h="346456" w="484251">
                  <a:moveTo>
                    <a:pt x="375793" y="0"/>
                  </a:moveTo>
                  <a:lnTo>
                    <a:pt x="337058" y="0"/>
                  </a:lnTo>
                  <a:lnTo>
                    <a:pt x="0" y="167132"/>
                  </a:lnTo>
                  <a:lnTo>
                    <a:pt x="121031" y="346456"/>
                  </a:lnTo>
                  <a:lnTo>
                    <a:pt x="484251" y="160655"/>
                  </a:lnTo>
                  <a:lnTo>
                    <a:pt x="375793" y="0"/>
                  </a:lnTo>
                  <a:close/>
                </a:path>
              </a:pathLst>
            </a:custGeom>
            <a:solidFill>
              <a:srgbClr val="FFCA88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278766" y="1458154"/>
            <a:ext cx="355069" cy="303696"/>
            <a:chOff x="0" y="0"/>
            <a:chExt cx="473426" cy="40492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72313" cy="403987"/>
            </a:xfrm>
            <a:custGeom>
              <a:avLst/>
              <a:gdLst/>
              <a:ahLst/>
              <a:cxnLst/>
              <a:rect r="r" b="b" t="t" l="l"/>
              <a:pathLst>
                <a:path h="403987" w="472313">
                  <a:moveTo>
                    <a:pt x="320294" y="0"/>
                  </a:moveTo>
                  <a:lnTo>
                    <a:pt x="0" y="253746"/>
                  </a:lnTo>
                  <a:lnTo>
                    <a:pt x="155575" y="403987"/>
                  </a:lnTo>
                  <a:lnTo>
                    <a:pt x="472313" y="146812"/>
                  </a:lnTo>
                  <a:lnTo>
                    <a:pt x="320294" y="0"/>
                  </a:lnTo>
                  <a:close/>
                </a:path>
              </a:pathLst>
            </a:custGeom>
            <a:solidFill>
              <a:srgbClr val="CCD2F5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4441415" y="498728"/>
            <a:ext cx="181311" cy="152605"/>
            <a:chOff x="0" y="0"/>
            <a:chExt cx="241748" cy="20347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40919" cy="202565"/>
            </a:xfrm>
            <a:custGeom>
              <a:avLst/>
              <a:gdLst/>
              <a:ahLst/>
              <a:cxnLst/>
              <a:rect r="r" b="b" t="t" l="l"/>
              <a:pathLst>
                <a:path h="202565" w="240919">
                  <a:moveTo>
                    <a:pt x="213741" y="0"/>
                  </a:moveTo>
                  <a:lnTo>
                    <a:pt x="0" y="0"/>
                  </a:lnTo>
                  <a:lnTo>
                    <a:pt x="24638" y="202565"/>
                  </a:lnTo>
                  <a:lnTo>
                    <a:pt x="240919" y="202565"/>
                  </a:lnTo>
                  <a:lnTo>
                    <a:pt x="213741" y="0"/>
                  </a:lnTo>
                  <a:close/>
                </a:path>
              </a:pathLst>
            </a:custGeom>
            <a:solidFill>
              <a:srgbClr val="4F5EA1"/>
            </a:solidFill>
          </p:spPr>
        </p:sp>
      </p:grpSp>
      <p:sp>
        <p:nvSpPr>
          <p:cNvPr name="Freeform 71" id="71"/>
          <p:cNvSpPr/>
          <p:nvPr/>
        </p:nvSpPr>
        <p:spPr>
          <a:xfrm flipH="false" flipV="false" rot="0">
            <a:off x="11616106" y="4688258"/>
            <a:ext cx="6318518" cy="5887008"/>
          </a:xfrm>
          <a:custGeom>
            <a:avLst/>
            <a:gdLst/>
            <a:ahLst/>
            <a:cxnLst/>
            <a:rect r="r" b="b" t="t" l="l"/>
            <a:pathLst>
              <a:path h="5887008" w="6318518">
                <a:moveTo>
                  <a:pt x="0" y="0"/>
                </a:moveTo>
                <a:lnTo>
                  <a:pt x="6318518" y="0"/>
                </a:lnTo>
                <a:lnTo>
                  <a:pt x="6318518" y="5887008"/>
                </a:lnTo>
                <a:lnTo>
                  <a:pt x="0" y="588700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3770" r="0" b="-3770"/>
            </a:stretch>
          </a:blipFill>
        </p:spPr>
      </p:sp>
      <p:grpSp>
        <p:nvGrpSpPr>
          <p:cNvPr name="Group 72" id="72"/>
          <p:cNvGrpSpPr/>
          <p:nvPr/>
        </p:nvGrpSpPr>
        <p:grpSpPr>
          <a:xfrm rot="0">
            <a:off x="2529970" y="2995474"/>
            <a:ext cx="7351334" cy="3183147"/>
            <a:chOff x="0" y="0"/>
            <a:chExt cx="9801779" cy="424419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801824" cy="4244213"/>
            </a:xfrm>
            <a:custGeom>
              <a:avLst/>
              <a:gdLst/>
              <a:ahLst/>
              <a:cxnLst/>
              <a:rect r="r" b="b" t="t" l="l"/>
              <a:pathLst>
                <a:path h="4244213" w="9801824">
                  <a:moveTo>
                    <a:pt x="0" y="0"/>
                  </a:moveTo>
                  <a:lnTo>
                    <a:pt x="9019660" y="0"/>
                  </a:lnTo>
                  <a:cubicBezTo>
                    <a:pt x="9451608" y="0"/>
                    <a:pt x="9801824" y="316738"/>
                    <a:pt x="9801824" y="707390"/>
                  </a:cubicBezTo>
                  <a:lnTo>
                    <a:pt x="9801824" y="4244213"/>
                  </a:lnTo>
                  <a:lnTo>
                    <a:pt x="0" y="4244213"/>
                  </a:lnTo>
                  <a:close/>
                </a:path>
              </a:pathLst>
            </a:custGeom>
            <a:solidFill>
              <a:srgbClr val="37B2AC"/>
            </a:solidFill>
          </p:spPr>
        </p:sp>
      </p:grpSp>
      <p:sp>
        <p:nvSpPr>
          <p:cNvPr name="TextBox 74" id="74"/>
          <p:cNvSpPr txBox="true"/>
          <p:nvPr/>
        </p:nvSpPr>
        <p:spPr>
          <a:xfrm rot="0">
            <a:off x="2822666" y="3409416"/>
            <a:ext cx="6623676" cy="240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90"/>
              </a:lnSpc>
            </a:pPr>
            <a:r>
              <a:rPr lang="en-US" sz="5908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6차 미니프로젝트(1)</a:t>
            </a:r>
          </a:p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시계열데이터 모델링</a:t>
            </a:r>
          </a:p>
          <a:p>
            <a:pPr algn="l">
              <a:lnSpc>
                <a:spcPts val="5640"/>
              </a:lnSpc>
            </a:pPr>
            <a:r>
              <a:rPr lang="en-US" sz="47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상품별 판매량 예측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623972" y="6665694"/>
            <a:ext cx="5120767" cy="824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AI 1반 2조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499072" y="7545919"/>
            <a:ext cx="11933116" cy="713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79"/>
              </a:lnSpc>
            </a:pPr>
            <a:r>
              <a:rPr lang="en-US" sz="377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김효연, 박정은, 박지성, 유지현, 유현종, 조강윤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3895">
            <a:off x="-21506" y="1672662"/>
            <a:ext cx="18331020" cy="0"/>
          </a:xfrm>
          <a:prstGeom prst="line">
            <a:avLst/>
          </a:prstGeom>
          <a:ln cap="rnd" w="19050">
            <a:solidFill>
              <a:srgbClr val="02BD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2952">
            <a:off x="822910" y="9637402"/>
            <a:ext cx="16636325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767659" y="2298379"/>
            <a:ext cx="5638637" cy="1934990"/>
          </a:xfrm>
          <a:custGeom>
            <a:avLst/>
            <a:gdLst/>
            <a:ahLst/>
            <a:cxnLst/>
            <a:rect r="r" b="b" t="t" l="l"/>
            <a:pathLst>
              <a:path h="1934990" w="5638637">
                <a:moveTo>
                  <a:pt x="0" y="0"/>
                </a:moveTo>
                <a:lnTo>
                  <a:pt x="5638638" y="0"/>
                </a:lnTo>
                <a:lnTo>
                  <a:pt x="5638638" y="1934990"/>
                </a:lnTo>
                <a:lnTo>
                  <a:pt x="0" y="19349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99247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905813" y="2404533"/>
            <a:ext cx="5404939" cy="1828836"/>
          </a:xfrm>
          <a:custGeom>
            <a:avLst/>
            <a:gdLst/>
            <a:ahLst/>
            <a:cxnLst/>
            <a:rect r="r" b="b" t="t" l="l"/>
            <a:pathLst>
              <a:path h="1828836" w="5404939">
                <a:moveTo>
                  <a:pt x="0" y="0"/>
                </a:moveTo>
                <a:lnTo>
                  <a:pt x="5404939" y="0"/>
                </a:lnTo>
                <a:lnTo>
                  <a:pt x="5404939" y="1828836"/>
                </a:lnTo>
                <a:lnTo>
                  <a:pt x="0" y="18288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02855" r="-385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611443" y="3265874"/>
            <a:ext cx="5439994" cy="2012798"/>
          </a:xfrm>
          <a:custGeom>
            <a:avLst/>
            <a:gdLst/>
            <a:ahLst/>
            <a:cxnLst/>
            <a:rect r="r" b="b" t="t" l="l"/>
            <a:pathLst>
              <a:path h="2012798" w="5439994">
                <a:moveTo>
                  <a:pt x="0" y="0"/>
                </a:moveTo>
                <a:lnTo>
                  <a:pt x="5439994" y="0"/>
                </a:lnTo>
                <a:lnTo>
                  <a:pt x="5439994" y="2012798"/>
                </a:lnTo>
                <a:lnTo>
                  <a:pt x="0" y="20127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1207" y="5821571"/>
            <a:ext cx="2819319" cy="1374418"/>
          </a:xfrm>
          <a:custGeom>
            <a:avLst/>
            <a:gdLst/>
            <a:ahLst/>
            <a:cxnLst/>
            <a:rect r="r" b="b" t="t" l="l"/>
            <a:pathLst>
              <a:path h="1374418" w="2819319">
                <a:moveTo>
                  <a:pt x="0" y="0"/>
                </a:moveTo>
                <a:lnTo>
                  <a:pt x="2819319" y="0"/>
                </a:lnTo>
                <a:lnTo>
                  <a:pt x="2819319" y="1374417"/>
                </a:lnTo>
                <a:lnTo>
                  <a:pt x="0" y="13744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00191" y="7538537"/>
            <a:ext cx="1777114" cy="1782037"/>
          </a:xfrm>
          <a:custGeom>
            <a:avLst/>
            <a:gdLst/>
            <a:ahLst/>
            <a:cxnLst/>
            <a:rect r="r" b="b" t="t" l="l"/>
            <a:pathLst>
              <a:path h="1782037" w="1777114">
                <a:moveTo>
                  <a:pt x="0" y="0"/>
                </a:moveTo>
                <a:lnTo>
                  <a:pt x="1777114" y="0"/>
                </a:lnTo>
                <a:lnTo>
                  <a:pt x="1777114" y="1782037"/>
                </a:lnTo>
                <a:lnTo>
                  <a:pt x="0" y="17820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905813" y="5543302"/>
            <a:ext cx="4756094" cy="1652686"/>
          </a:xfrm>
          <a:custGeom>
            <a:avLst/>
            <a:gdLst/>
            <a:ahLst/>
            <a:cxnLst/>
            <a:rect r="r" b="b" t="t" l="l"/>
            <a:pathLst>
              <a:path h="1652686" w="4756094">
                <a:moveTo>
                  <a:pt x="0" y="0"/>
                </a:moveTo>
                <a:lnTo>
                  <a:pt x="4756094" y="0"/>
                </a:lnTo>
                <a:lnTo>
                  <a:pt x="4756094" y="1652686"/>
                </a:lnTo>
                <a:lnTo>
                  <a:pt x="0" y="165268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8610907" y="8062441"/>
            <a:ext cx="9287924" cy="1926941"/>
            <a:chOff x="0" y="0"/>
            <a:chExt cx="2446202" cy="50750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46202" cy="507507"/>
            </a:xfrm>
            <a:custGeom>
              <a:avLst/>
              <a:gdLst/>
              <a:ahLst/>
              <a:cxnLst/>
              <a:rect r="r" b="b" t="t" l="l"/>
              <a:pathLst>
                <a:path h="507507" w="2446202">
                  <a:moveTo>
                    <a:pt x="42511" y="0"/>
                  </a:moveTo>
                  <a:lnTo>
                    <a:pt x="2403691" y="0"/>
                  </a:lnTo>
                  <a:cubicBezTo>
                    <a:pt x="2427170" y="0"/>
                    <a:pt x="2446202" y="19033"/>
                    <a:pt x="2446202" y="42511"/>
                  </a:cubicBezTo>
                  <a:lnTo>
                    <a:pt x="2446202" y="464996"/>
                  </a:lnTo>
                  <a:cubicBezTo>
                    <a:pt x="2446202" y="488474"/>
                    <a:pt x="2427170" y="507507"/>
                    <a:pt x="2403691" y="507507"/>
                  </a:cubicBezTo>
                  <a:lnTo>
                    <a:pt x="42511" y="507507"/>
                  </a:lnTo>
                  <a:cubicBezTo>
                    <a:pt x="19033" y="507507"/>
                    <a:pt x="0" y="488474"/>
                    <a:pt x="0" y="464996"/>
                  </a:cubicBezTo>
                  <a:lnTo>
                    <a:pt x="0" y="42511"/>
                  </a:lnTo>
                  <a:cubicBezTo>
                    <a:pt x="0" y="19033"/>
                    <a:pt x="19033" y="0"/>
                    <a:pt x="42511" y="0"/>
                  </a:cubicBezTo>
                  <a:close/>
                </a:path>
              </a:pathLst>
            </a:custGeom>
            <a:solidFill>
              <a:srgbClr val="A5DDD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2446202" cy="5265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6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830053" y="9708908"/>
            <a:ext cx="5334856" cy="28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b="true" sz="1938">
                <a:solidFill>
                  <a:srgbClr val="34AEAA"/>
                </a:solidFill>
                <a:latin typeface="Arial Bold"/>
                <a:ea typeface="Arial Bold"/>
                <a:cs typeface="Arial Bold"/>
                <a:sym typeface="Arial Bold"/>
              </a:rPr>
              <a:t>KT AIVLE School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1207" y="651949"/>
            <a:ext cx="7495290" cy="758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2"/>
              </a:lnSpc>
            </a:pPr>
            <a:r>
              <a:rPr lang="en-US" b="true" sz="5400" spc="50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데이터 탐색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8976" y="4295282"/>
            <a:ext cx="5277012" cy="1233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76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주말(토,일)에 판매량 확연히 증가</a:t>
            </a:r>
          </a:p>
          <a:p>
            <a:pPr algn="just">
              <a:lnSpc>
                <a:spcPts val="2376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주중에는 상대적으로 낮은 판매량</a:t>
            </a:r>
          </a:p>
          <a:p>
            <a:pPr algn="just">
              <a:lnSpc>
                <a:spcPts val="2376"/>
              </a:lnSpc>
              <a:spcBef>
                <a:spcPct val="0"/>
              </a:spcBef>
            </a:pPr>
          </a:p>
          <a:p>
            <a:pPr algn="just">
              <a:lnSpc>
                <a:spcPts val="2376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공휴일(1월 1일)은 판매량이 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905813" y="4442919"/>
            <a:ext cx="3831182" cy="93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76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FOOD카테고리에서 가장 높은 판매량을 보여줌</a:t>
            </a:r>
          </a:p>
          <a:p>
            <a:pPr algn="just">
              <a:lnSpc>
                <a:spcPts val="2376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요일별로 판매량의 편차가 큼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112943" y="5968071"/>
            <a:ext cx="2382084" cy="643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5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연간 평균 판매량이</a:t>
            </a:r>
          </a:p>
          <a:p>
            <a:pPr algn="l">
              <a:lnSpc>
                <a:spcPts val="2375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증가하는 추세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199850" y="8032124"/>
            <a:ext cx="3153013" cy="643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방문자수와 강한 상관관계</a:t>
            </a:r>
          </a:p>
          <a:p>
            <a:pPr algn="l">
              <a:lnSpc>
                <a:spcPts val="2375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# 0.59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191463" y="2385483"/>
            <a:ext cx="4610695" cy="643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월별로 일정한 주기적 패턴을 보임</a:t>
            </a:r>
          </a:p>
          <a:p>
            <a:pPr algn="l">
              <a:lnSpc>
                <a:spcPts val="2376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ID 3, 12에 비해 적은 판매량 45 ~ 196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905813" y="7405538"/>
            <a:ext cx="3410188" cy="34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76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-방문자수와의 강한 상관관계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00191" y="1714353"/>
            <a:ext cx="389119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2BDB6"/>
                </a:solidFill>
                <a:latin typeface="Arial Bold"/>
                <a:ea typeface="Arial Bold"/>
                <a:cs typeface="Arial Bold"/>
                <a:sym typeface="Arial Bold"/>
              </a:rPr>
              <a:t>ID3 Beverage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198404" y="1714353"/>
            <a:ext cx="389119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4F5EA1"/>
                </a:solidFill>
                <a:latin typeface="Arial Bold"/>
                <a:ea typeface="Arial Bold"/>
                <a:cs typeface="Arial Bold"/>
                <a:sym typeface="Arial Bold"/>
              </a:rPr>
              <a:t>ID12 Milk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860721" y="1732818"/>
            <a:ext cx="494143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DF7777"/>
                </a:solidFill>
                <a:latin typeface="Arial Bold"/>
                <a:ea typeface="Arial Bold"/>
                <a:cs typeface="Arial Bold"/>
                <a:sym typeface="Arial Bold"/>
              </a:rPr>
              <a:t>ID42  Agricultural Products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827914" y="8233891"/>
            <a:ext cx="9135918" cy="1517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16"/>
              </a:lnSpc>
            </a:pPr>
            <a:r>
              <a:rPr lang="en-US" sz="27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가설</a:t>
            </a:r>
          </a:p>
          <a:p>
            <a:pPr algn="just" marL="582930" indent="-291465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요일과 판매량 간의 상관관계가 있을 것이다.</a:t>
            </a:r>
          </a:p>
          <a:p>
            <a:pPr algn="just" marL="582930" indent="-291465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전일 판매량과 당일 판매량 상관관계</a:t>
            </a:r>
          </a:p>
          <a:p>
            <a:pPr algn="just" marL="582930" indent="-291465" lvl="1">
              <a:lnSpc>
                <a:spcPts val="2916"/>
              </a:lnSpc>
              <a:spcBef>
                <a:spcPct val="0"/>
              </a:spcBef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같은 주 내의 다른 매장 판매량과 상관관계가 있을 것이다.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3895">
            <a:off x="-21506" y="1672662"/>
            <a:ext cx="18331020" cy="0"/>
          </a:xfrm>
          <a:prstGeom prst="line">
            <a:avLst/>
          </a:prstGeom>
          <a:ln cap="rnd" w="19050">
            <a:solidFill>
              <a:srgbClr val="02BD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977886" y="9635021"/>
            <a:ext cx="16636318" cy="14288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068732" y="2670935"/>
            <a:ext cx="2857500" cy="1905000"/>
          </a:xfrm>
          <a:custGeom>
            <a:avLst/>
            <a:gdLst/>
            <a:ahLst/>
            <a:cxnLst/>
            <a:rect r="r" b="b" t="t" l="l"/>
            <a:pathLst>
              <a:path h="1905000" w="2857500">
                <a:moveTo>
                  <a:pt x="0" y="0"/>
                </a:moveTo>
                <a:lnTo>
                  <a:pt x="2857500" y="0"/>
                </a:lnTo>
                <a:lnTo>
                  <a:pt x="2857500" y="1905000"/>
                </a:lnTo>
                <a:lnTo>
                  <a:pt x="0" y="1905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90" r="-9489" b="-633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61312" y="7127913"/>
            <a:ext cx="3472339" cy="34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같은 지역의 매장 고객 방문 수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140913" y="5075614"/>
            <a:ext cx="2713138" cy="1985911"/>
          </a:xfrm>
          <a:custGeom>
            <a:avLst/>
            <a:gdLst/>
            <a:ahLst/>
            <a:cxnLst/>
            <a:rect r="r" b="b" t="t" l="l"/>
            <a:pathLst>
              <a:path h="1985911" w="2713138">
                <a:moveTo>
                  <a:pt x="0" y="0"/>
                </a:moveTo>
                <a:lnTo>
                  <a:pt x="2713138" y="0"/>
                </a:lnTo>
                <a:lnTo>
                  <a:pt x="2713138" y="1985911"/>
                </a:lnTo>
                <a:lnTo>
                  <a:pt x="0" y="19859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44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140913" y="7561205"/>
            <a:ext cx="2713138" cy="1958961"/>
          </a:xfrm>
          <a:custGeom>
            <a:avLst/>
            <a:gdLst/>
            <a:ahLst/>
            <a:cxnLst/>
            <a:rect r="r" b="b" t="t" l="l"/>
            <a:pathLst>
              <a:path h="1958961" w="2713138">
                <a:moveTo>
                  <a:pt x="0" y="0"/>
                </a:moveTo>
                <a:lnTo>
                  <a:pt x="2713138" y="0"/>
                </a:lnTo>
                <a:lnTo>
                  <a:pt x="2713138" y="1958961"/>
                </a:lnTo>
                <a:lnTo>
                  <a:pt x="0" y="19589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787640" y="5075417"/>
            <a:ext cx="2712720" cy="1968987"/>
          </a:xfrm>
          <a:custGeom>
            <a:avLst/>
            <a:gdLst/>
            <a:ahLst/>
            <a:cxnLst/>
            <a:rect r="r" b="b" t="t" l="l"/>
            <a:pathLst>
              <a:path h="1968987" w="2712720">
                <a:moveTo>
                  <a:pt x="0" y="0"/>
                </a:moveTo>
                <a:lnTo>
                  <a:pt x="2712720" y="0"/>
                </a:lnTo>
                <a:lnTo>
                  <a:pt x="2712720" y="1968987"/>
                </a:lnTo>
                <a:lnTo>
                  <a:pt x="0" y="19689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715250" y="2654719"/>
            <a:ext cx="2857500" cy="1913923"/>
          </a:xfrm>
          <a:custGeom>
            <a:avLst/>
            <a:gdLst/>
            <a:ahLst/>
            <a:cxnLst/>
            <a:rect r="r" b="b" t="t" l="l"/>
            <a:pathLst>
              <a:path h="1913923" w="2857500">
                <a:moveTo>
                  <a:pt x="0" y="0"/>
                </a:moveTo>
                <a:lnTo>
                  <a:pt x="2857500" y="0"/>
                </a:lnTo>
                <a:lnTo>
                  <a:pt x="2857500" y="1913923"/>
                </a:lnTo>
                <a:lnTo>
                  <a:pt x="0" y="19139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787640" y="7551180"/>
            <a:ext cx="2712720" cy="1968987"/>
          </a:xfrm>
          <a:custGeom>
            <a:avLst/>
            <a:gdLst/>
            <a:ahLst/>
            <a:cxnLst/>
            <a:rect r="r" b="b" t="t" l="l"/>
            <a:pathLst>
              <a:path h="1968987" w="2712720">
                <a:moveTo>
                  <a:pt x="0" y="0"/>
                </a:moveTo>
                <a:lnTo>
                  <a:pt x="2712720" y="0"/>
                </a:lnTo>
                <a:lnTo>
                  <a:pt x="2712720" y="1968986"/>
                </a:lnTo>
                <a:lnTo>
                  <a:pt x="0" y="196898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900863" y="2733652"/>
            <a:ext cx="2857500" cy="1851338"/>
          </a:xfrm>
          <a:custGeom>
            <a:avLst/>
            <a:gdLst/>
            <a:ahLst/>
            <a:cxnLst/>
            <a:rect r="r" b="b" t="t" l="l"/>
            <a:pathLst>
              <a:path h="1851338" w="2857500">
                <a:moveTo>
                  <a:pt x="0" y="0"/>
                </a:moveTo>
                <a:lnTo>
                  <a:pt x="2857500" y="0"/>
                </a:lnTo>
                <a:lnTo>
                  <a:pt x="2857500" y="1851338"/>
                </a:lnTo>
                <a:lnTo>
                  <a:pt x="0" y="185133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973253" y="5061948"/>
            <a:ext cx="2712720" cy="2022298"/>
          </a:xfrm>
          <a:custGeom>
            <a:avLst/>
            <a:gdLst/>
            <a:ahLst/>
            <a:cxnLst/>
            <a:rect r="r" b="b" t="t" l="l"/>
            <a:pathLst>
              <a:path h="2022298" w="2712720">
                <a:moveTo>
                  <a:pt x="0" y="0"/>
                </a:moveTo>
                <a:lnTo>
                  <a:pt x="2712720" y="0"/>
                </a:lnTo>
                <a:lnTo>
                  <a:pt x="2712720" y="2022298"/>
                </a:lnTo>
                <a:lnTo>
                  <a:pt x="0" y="202229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973253" y="7561205"/>
            <a:ext cx="2712720" cy="2029626"/>
          </a:xfrm>
          <a:custGeom>
            <a:avLst/>
            <a:gdLst/>
            <a:ahLst/>
            <a:cxnLst/>
            <a:rect r="r" b="b" t="t" l="l"/>
            <a:pathLst>
              <a:path h="2029626" w="2712720">
                <a:moveTo>
                  <a:pt x="0" y="0"/>
                </a:moveTo>
                <a:lnTo>
                  <a:pt x="2712720" y="0"/>
                </a:lnTo>
                <a:lnTo>
                  <a:pt x="2712720" y="2029625"/>
                </a:lnTo>
                <a:lnTo>
                  <a:pt x="0" y="20296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00191" y="1714353"/>
            <a:ext cx="389119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2BDB6"/>
                </a:solidFill>
                <a:latin typeface="Arial Bold"/>
                <a:ea typeface="Arial Bold"/>
                <a:cs typeface="Arial Bold"/>
                <a:sym typeface="Arial Bold"/>
              </a:rPr>
              <a:t>ID3 Beverage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198404" y="1714353"/>
            <a:ext cx="389119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4F5EA1"/>
                </a:solidFill>
                <a:latin typeface="Arial Bold"/>
                <a:ea typeface="Arial Bold"/>
                <a:cs typeface="Arial Bold"/>
                <a:sym typeface="Arial Bold"/>
              </a:rPr>
              <a:t>ID12 Milk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858894" y="1732818"/>
            <a:ext cx="494143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DF7777"/>
                </a:solidFill>
                <a:latin typeface="Arial Bold"/>
                <a:ea typeface="Arial Bold"/>
                <a:cs typeface="Arial Bold"/>
                <a:sym typeface="Arial Bold"/>
              </a:rPr>
              <a:t>ID42  Agricultural Products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95938" y="2237643"/>
            <a:ext cx="2803088" cy="34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요일과 판매량 간의 관계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30053" y="9708908"/>
            <a:ext cx="5334856" cy="28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b="true" sz="1938">
                <a:solidFill>
                  <a:srgbClr val="34AEAA"/>
                </a:solidFill>
                <a:latin typeface="Arial Bold"/>
                <a:ea typeface="Arial Bold"/>
                <a:cs typeface="Arial Bold"/>
                <a:sym typeface="Arial Bold"/>
              </a:rPr>
              <a:t>KT AIVLE School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1207" y="651949"/>
            <a:ext cx="7495290" cy="758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2"/>
              </a:lnSpc>
            </a:pPr>
            <a:r>
              <a:rPr lang="en-US" b="true" sz="5400" spc="50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데이터 탐색2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75788" y="4642323"/>
            <a:ext cx="4243388" cy="34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전일 대비 판매량 증감과 당일 판매량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01952" y="7099125"/>
            <a:ext cx="3472339" cy="34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같은 지역의 매장 고객 방문 수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836577" y="2209653"/>
            <a:ext cx="2803088" cy="34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요일과 판매량 간의 관계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116428" y="4653006"/>
            <a:ext cx="4243388" cy="34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전일 대비 판매량 증감과 당일 판매량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593443" y="7139274"/>
            <a:ext cx="3472339" cy="34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같은 지역의 매장 고객 방문 수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928069" y="2311721"/>
            <a:ext cx="2803088" cy="34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요일과 판매량 간의 관계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207919" y="4640017"/>
            <a:ext cx="4243388" cy="34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전일 대비 판매량 증감과 당일 판매량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3895">
            <a:off x="-21506" y="1672662"/>
            <a:ext cx="18331020" cy="0"/>
          </a:xfrm>
          <a:prstGeom prst="line">
            <a:avLst/>
          </a:prstGeom>
          <a:ln cap="rnd" w="19050">
            <a:solidFill>
              <a:srgbClr val="02BD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2952">
            <a:off x="822910" y="9637402"/>
            <a:ext cx="16636325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290708" y="5651416"/>
          <a:ext cx="15706583" cy="2973042"/>
        </p:xfrm>
        <a:graphic>
          <a:graphicData uri="http://schemas.openxmlformats.org/drawingml/2006/table">
            <a:tbl>
              <a:tblPr/>
              <a:tblGrid>
                <a:gridCol w="1179326"/>
                <a:gridCol w="1815907"/>
                <a:gridCol w="1815907"/>
                <a:gridCol w="1815907"/>
                <a:gridCol w="1815907"/>
                <a:gridCol w="1815907"/>
                <a:gridCol w="1815907"/>
                <a:gridCol w="1815907"/>
                <a:gridCol w="1815907"/>
              </a:tblGrid>
              <a:tr h="80277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13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8">
                  <a:txBody>
                    <a:bodyPr anchor="t" rtlCol="false"/>
                    <a:lstStyle/>
                    <a:p>
                      <a:pPr algn="ctr">
                        <a:lnSpc>
                          <a:spcPts val="2713"/>
                        </a:lnSpc>
                        <a:defRPr/>
                      </a:pPr>
                      <a:r>
                        <a:rPr lang="en-US" sz="1938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Baseline 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713"/>
                        </a:lnSpc>
                        <a:defRPr/>
                      </a:pPr>
                      <a:r>
                        <a:rPr lang="en-US" sz="1938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Baseline 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713"/>
                        </a:lnSpc>
                        <a:defRPr/>
                      </a:pPr>
                      <a:r>
                        <a:rPr lang="en-US" sz="1938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Baseline 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713"/>
                        </a:lnSpc>
                        <a:defRPr/>
                      </a:pPr>
                      <a:r>
                        <a:rPr lang="en-US" sz="1938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Baseline 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713"/>
                        </a:lnSpc>
                        <a:defRPr/>
                      </a:pPr>
                      <a:r>
                        <a:rPr lang="en-US" sz="1938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Baseline 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713"/>
                        </a:lnSpc>
                        <a:defRPr/>
                      </a:pPr>
                      <a:r>
                        <a:rPr lang="en-US" sz="1938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Baseline 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713"/>
                        </a:lnSpc>
                        <a:defRPr/>
                      </a:pPr>
                      <a:r>
                        <a:rPr lang="en-US" sz="1938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Baseline 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713"/>
                        </a:lnSpc>
                        <a:defRPr/>
                      </a:pPr>
                      <a:r>
                        <a:rPr lang="en-US" sz="1938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Baseline 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01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13"/>
                        </a:lnSpc>
                        <a:defRPr/>
                      </a:pPr>
                      <a:r>
                        <a:rPr lang="en-US" sz="1938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73"/>
                        </a:lnSpc>
                        <a:defRPr/>
                      </a:pPr>
                      <a:r>
                        <a:rPr lang="en-US" sz="1338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Qty</a:t>
                      </a:r>
                      <a:endParaRPr lang="en-US" sz="1100"/>
                    </a:p>
                    <a:p>
                      <a:pPr algn="ctr">
                        <a:lnSpc>
                          <a:spcPts val="1873"/>
                        </a:lnSpc>
                      </a:pPr>
                      <a:r>
                        <a:rPr lang="en-US" sz="1338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(판매량)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73"/>
                        </a:lnSpc>
                        <a:defRPr/>
                      </a:pPr>
                      <a:r>
                        <a:rPr lang="en-US" sz="1338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CustomerCount</a:t>
                      </a:r>
                      <a:endParaRPr lang="en-US" sz="1100"/>
                    </a:p>
                    <a:p>
                      <a:pPr algn="ctr">
                        <a:lnSpc>
                          <a:spcPts val="1873"/>
                        </a:lnSpc>
                      </a:pPr>
                      <a:r>
                        <a:rPr lang="en-US" sz="1338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(고객 방문 수)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73"/>
                        </a:lnSpc>
                        <a:defRPr/>
                      </a:pPr>
                      <a:r>
                        <a:rPr lang="en-US" sz="1338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WeekDay</a:t>
                      </a:r>
                      <a:endParaRPr lang="en-US" sz="1100"/>
                    </a:p>
                    <a:p>
                      <a:pPr algn="ctr">
                        <a:lnSpc>
                          <a:spcPts val="1873"/>
                        </a:lnSpc>
                      </a:pPr>
                      <a:r>
                        <a:rPr lang="en-US" sz="1338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(요일)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73"/>
                        </a:lnSpc>
                        <a:defRPr/>
                      </a:pPr>
                      <a:r>
                        <a:rPr lang="en-US" sz="1338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Weekend</a:t>
                      </a:r>
                      <a:endParaRPr lang="en-US" sz="1100"/>
                    </a:p>
                    <a:p>
                      <a:pPr algn="ctr">
                        <a:lnSpc>
                          <a:spcPts val="1873"/>
                        </a:lnSpc>
                      </a:pPr>
                      <a:r>
                        <a:rPr lang="en-US" sz="1338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(주말/주중)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73"/>
                        </a:lnSpc>
                        <a:defRPr/>
                      </a:pPr>
                      <a:r>
                        <a:rPr lang="en-US" sz="1338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PrevQty</a:t>
                      </a:r>
                      <a:endParaRPr lang="en-US" sz="1100"/>
                    </a:p>
                    <a:p>
                      <a:pPr algn="ctr">
                        <a:lnSpc>
                          <a:spcPts val="1873"/>
                        </a:lnSpc>
                      </a:pPr>
                      <a:r>
                        <a:rPr lang="en-US" sz="1338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(전일 판매량)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73"/>
                        </a:lnSpc>
                        <a:defRPr/>
                      </a:pPr>
                      <a:r>
                        <a:rPr lang="en-US" sz="1338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SameRegionCustomer</a:t>
                      </a:r>
                      <a:endParaRPr lang="en-US" sz="1100"/>
                    </a:p>
                    <a:p>
                      <a:pPr algn="ctr">
                        <a:lnSpc>
                          <a:spcPts val="1873"/>
                        </a:lnSpc>
                      </a:pPr>
                      <a:r>
                        <a:rPr lang="en-US" sz="1338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(같은 지역 매장 </a:t>
                      </a:r>
                    </a:p>
                    <a:p>
                      <a:pPr algn="ctr">
                        <a:lnSpc>
                          <a:spcPts val="1873"/>
                        </a:lnSpc>
                      </a:pPr>
                      <a:r>
                        <a:rPr lang="en-US" sz="1338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평균 판매량)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73"/>
                        </a:lnSpc>
                        <a:defRPr/>
                      </a:pPr>
                      <a:r>
                        <a:rPr lang="en-US" sz="1338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MA7</a:t>
                      </a:r>
                      <a:endParaRPr lang="en-US" sz="1100"/>
                    </a:p>
                    <a:p>
                      <a:pPr algn="ctr">
                        <a:lnSpc>
                          <a:spcPts val="1873"/>
                        </a:lnSpc>
                      </a:pPr>
                      <a:r>
                        <a:rPr lang="en-US" sz="1338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(7일이동평균판매량)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73"/>
                        </a:lnSpc>
                        <a:defRPr/>
                      </a:pPr>
                      <a:r>
                        <a:rPr lang="en-US" sz="1338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LastWeekQty</a:t>
                      </a:r>
                      <a:endParaRPr lang="en-US" sz="1100"/>
                    </a:p>
                    <a:p>
                      <a:pPr algn="ctr">
                        <a:lnSpc>
                          <a:spcPts val="1873"/>
                        </a:lnSpc>
                      </a:pPr>
                      <a:r>
                        <a:rPr lang="en-US" sz="1338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(전주 동일 판매량)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5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13"/>
                        </a:lnSpc>
                        <a:defRPr/>
                      </a:pPr>
                      <a:r>
                        <a:rPr lang="en-US" sz="1938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8">
                  <a:txBody>
                    <a:bodyPr anchor="t" rtlCol="false"/>
                    <a:lstStyle/>
                    <a:p>
                      <a:pPr algn="ctr">
                        <a:lnSpc>
                          <a:spcPts val="2713"/>
                        </a:lnSpc>
                        <a:defRPr/>
                      </a:pPr>
                      <a:r>
                        <a:rPr lang="en-US" sz="1938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Qty_lead(Lead Time 후 판매량)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713"/>
                        </a:lnSpc>
                        <a:defRPr/>
                      </a:pPr>
                      <a:r>
                        <a:rPr lang="en-US" sz="1938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Qty_lead(Lead Time 후 판매량)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713"/>
                        </a:lnSpc>
                        <a:defRPr/>
                      </a:pPr>
                      <a:r>
                        <a:rPr lang="en-US" sz="1938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Qty_lead(Lead Time 후 판매량)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713"/>
                        </a:lnSpc>
                        <a:defRPr/>
                      </a:pPr>
                      <a:r>
                        <a:rPr lang="en-US" sz="1938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Qty_lead(Lead Time 후 판매량)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713"/>
                        </a:lnSpc>
                        <a:defRPr/>
                      </a:pPr>
                      <a:r>
                        <a:rPr lang="en-US" sz="1938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Qty_lead(Lead Time 후 판매량)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713"/>
                        </a:lnSpc>
                        <a:defRPr/>
                      </a:pPr>
                      <a:r>
                        <a:rPr lang="en-US" sz="1938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Qty_lead(Lead Time 후 판매량)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713"/>
                        </a:lnSpc>
                        <a:defRPr/>
                      </a:pPr>
                      <a:r>
                        <a:rPr lang="en-US" sz="1938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Qty_lead(Lead Time 후 판매량)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713"/>
                        </a:lnSpc>
                        <a:defRPr/>
                      </a:pPr>
                      <a:r>
                        <a:rPr lang="en-US" sz="1938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Qty_lead(Lead Time 후 판매량)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5" id="5"/>
          <p:cNvSpPr/>
          <p:nvPr/>
        </p:nvSpPr>
        <p:spPr>
          <a:xfrm flipH="false" flipV="false" rot="0">
            <a:off x="2196122" y="2459092"/>
            <a:ext cx="13895756" cy="2684408"/>
          </a:xfrm>
          <a:custGeom>
            <a:avLst/>
            <a:gdLst/>
            <a:ahLst/>
            <a:cxnLst/>
            <a:rect r="r" b="b" t="t" l="l"/>
            <a:pathLst>
              <a:path h="2684408" w="13895756">
                <a:moveTo>
                  <a:pt x="0" y="0"/>
                </a:moveTo>
                <a:lnTo>
                  <a:pt x="13895756" y="0"/>
                </a:lnTo>
                <a:lnTo>
                  <a:pt x="13895756" y="2684408"/>
                </a:lnTo>
                <a:lnTo>
                  <a:pt x="0" y="26844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354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318479" y="9704243"/>
            <a:ext cx="1133606" cy="264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41"/>
              </a:lnSpc>
            </a:pPr>
            <a:r>
              <a:rPr lang="en-US" sz="1534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0053" y="9708908"/>
            <a:ext cx="5334856" cy="28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b="true" sz="1938">
                <a:solidFill>
                  <a:srgbClr val="34AEAA"/>
                </a:solidFill>
                <a:latin typeface="Arial Bold"/>
                <a:ea typeface="Arial Bold"/>
                <a:cs typeface="Arial Bold"/>
                <a:sym typeface="Arial Bold"/>
              </a:rPr>
              <a:t>KT AIVLE School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1207" y="651949"/>
            <a:ext cx="7495290" cy="758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2"/>
              </a:lnSpc>
            </a:pPr>
            <a:r>
              <a:rPr lang="en-US" b="true" sz="5400" spc="50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모델1: LSTM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3895">
            <a:off x="-21506" y="1672662"/>
            <a:ext cx="18331020" cy="0"/>
          </a:xfrm>
          <a:prstGeom prst="line">
            <a:avLst/>
          </a:prstGeom>
          <a:ln cap="rnd" w="19050">
            <a:solidFill>
              <a:srgbClr val="02BD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2952">
            <a:off x="822910" y="9637402"/>
            <a:ext cx="16636325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H="true">
            <a:off x="5736302" y="2904047"/>
            <a:ext cx="0" cy="4491320"/>
          </a:xfrm>
          <a:prstGeom prst="line">
            <a:avLst/>
          </a:prstGeom>
          <a:ln cap="flat" w="38100">
            <a:solidFill>
              <a:srgbClr val="02BD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1994097" y="2908139"/>
            <a:ext cx="0" cy="4487228"/>
          </a:xfrm>
          <a:prstGeom prst="line">
            <a:avLst/>
          </a:prstGeom>
          <a:ln cap="flat" w="38100">
            <a:solidFill>
              <a:srgbClr val="02BD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2993030" y="3524705"/>
            <a:ext cx="4218161" cy="1632153"/>
          </a:xfrm>
          <a:custGeom>
            <a:avLst/>
            <a:gdLst/>
            <a:ahLst/>
            <a:cxnLst/>
            <a:rect r="r" b="b" t="t" l="l"/>
            <a:pathLst>
              <a:path h="1632153" w="4218161">
                <a:moveTo>
                  <a:pt x="0" y="0"/>
                </a:moveTo>
                <a:lnTo>
                  <a:pt x="4218160" y="0"/>
                </a:lnTo>
                <a:lnTo>
                  <a:pt x="4218160" y="1632152"/>
                </a:lnTo>
                <a:lnTo>
                  <a:pt x="0" y="16321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527726" y="3735085"/>
            <a:ext cx="4674948" cy="1211392"/>
          </a:xfrm>
          <a:custGeom>
            <a:avLst/>
            <a:gdLst/>
            <a:ahLst/>
            <a:cxnLst/>
            <a:rect r="r" b="b" t="t" l="l"/>
            <a:pathLst>
              <a:path h="1211392" w="4674948">
                <a:moveTo>
                  <a:pt x="0" y="0"/>
                </a:moveTo>
                <a:lnTo>
                  <a:pt x="4674948" y="0"/>
                </a:lnTo>
                <a:lnTo>
                  <a:pt x="4674948" y="1211392"/>
                </a:lnTo>
                <a:lnTo>
                  <a:pt x="0" y="12113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70926" y="3524705"/>
            <a:ext cx="4472152" cy="1397548"/>
          </a:xfrm>
          <a:custGeom>
            <a:avLst/>
            <a:gdLst/>
            <a:ahLst/>
            <a:cxnLst/>
            <a:rect r="r" b="b" t="t" l="l"/>
            <a:pathLst>
              <a:path h="1397548" w="4472152">
                <a:moveTo>
                  <a:pt x="0" y="0"/>
                </a:moveTo>
                <a:lnTo>
                  <a:pt x="4472152" y="0"/>
                </a:lnTo>
                <a:lnTo>
                  <a:pt x="4472152" y="1397547"/>
                </a:lnTo>
                <a:lnTo>
                  <a:pt x="0" y="13975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318479" y="9704243"/>
            <a:ext cx="1133606" cy="264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41"/>
              </a:lnSpc>
            </a:pPr>
            <a:r>
              <a:rPr lang="en-US" sz="1534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30053" y="9708908"/>
            <a:ext cx="5334856" cy="28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b="true" sz="1938">
                <a:solidFill>
                  <a:srgbClr val="34AEAA"/>
                </a:solidFill>
                <a:latin typeface="Arial Bold"/>
                <a:ea typeface="Arial Bold"/>
                <a:cs typeface="Arial Bold"/>
                <a:sym typeface="Arial Bold"/>
              </a:rPr>
              <a:t>KT AIVLE School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1207" y="651949"/>
            <a:ext cx="7495290" cy="758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2"/>
              </a:lnSpc>
            </a:pPr>
            <a:r>
              <a:rPr lang="en-US" b="true" sz="5400" spc="50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결론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51885" y="2384264"/>
            <a:ext cx="389119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2BDB6"/>
                </a:solidFill>
                <a:latin typeface="Arial Bold"/>
                <a:ea typeface="Arial Bold"/>
                <a:cs typeface="Arial Bold"/>
                <a:sym typeface="Arial Bold"/>
              </a:rPr>
              <a:t>ID3 Beverage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311481" y="2436647"/>
            <a:ext cx="389119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4F5EA1"/>
                </a:solidFill>
                <a:latin typeface="Arial Bold"/>
                <a:ea typeface="Arial Bold"/>
                <a:cs typeface="Arial Bold"/>
                <a:sym typeface="Arial Bold"/>
              </a:rPr>
              <a:t>ID12 Milk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60707" y="2378471"/>
            <a:ext cx="562729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CA88"/>
                </a:solidFill>
                <a:latin typeface="Arial Bold"/>
                <a:ea typeface="Arial Bold"/>
                <a:cs typeface="Arial Bold"/>
                <a:sym typeface="Arial Bold"/>
              </a:rPr>
              <a:t>ID42  Agricultural Products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22913" y="5551894"/>
            <a:ext cx="4131344" cy="1184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93008" indent="-296504" lvl="1">
              <a:lnSpc>
                <a:spcPts val="2966"/>
              </a:lnSpc>
              <a:buFont typeface="Arial"/>
              <a:buChar char="•"/>
            </a:pPr>
            <a:r>
              <a:rPr lang="en-US" b="true" sz="274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LSTM 모델</a:t>
            </a:r>
            <a:r>
              <a:rPr lang="en-US" sz="274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을 사용</a:t>
            </a:r>
          </a:p>
          <a:p>
            <a:pPr algn="ctr" marL="593008" indent="-296504" lvl="1">
              <a:lnSpc>
                <a:spcPts val="2966"/>
              </a:lnSpc>
              <a:spcBef>
                <a:spcPct val="0"/>
              </a:spcBef>
              <a:buFont typeface="Arial"/>
              <a:buChar char="•"/>
            </a:pPr>
            <a:r>
              <a:rPr lang="en-US" sz="274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sz="274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10000 재고</a:t>
            </a:r>
            <a:r>
              <a:rPr lang="en-US" sz="274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수량 설정시 기회비용 최소화 가능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164910" y="5366131"/>
            <a:ext cx="5237810" cy="1556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93726" indent="-296863" lvl="1">
              <a:lnSpc>
                <a:spcPts val="2970"/>
              </a:lnSpc>
              <a:buFont typeface="Arial"/>
              <a:buChar char="•"/>
            </a:pPr>
            <a:r>
              <a:rPr lang="en-US" b="true" sz="275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LSTM 모델</a:t>
            </a:r>
            <a:r>
              <a:rPr lang="en-US" sz="27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을 사용</a:t>
            </a:r>
          </a:p>
          <a:p>
            <a:pPr algn="ctr" marL="593726" indent="-296863" lvl="1">
              <a:lnSpc>
                <a:spcPts val="2970"/>
              </a:lnSpc>
              <a:buFont typeface="Arial"/>
              <a:buChar char="•"/>
            </a:pPr>
            <a:r>
              <a:rPr lang="en-US" sz="27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sz="275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안전 재고</a:t>
            </a:r>
            <a:r>
              <a:rPr lang="en-US" sz="27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133305로 수량 설정시 기회비용 최소화 가능</a:t>
            </a:r>
          </a:p>
          <a:p>
            <a:pPr algn="ctr">
              <a:lnSpc>
                <a:spcPts val="2970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2660707" y="5747407"/>
            <a:ext cx="4882806" cy="1184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93724" indent="-296862" lvl="1">
              <a:lnSpc>
                <a:spcPts val="2969"/>
              </a:lnSpc>
              <a:buFont typeface="Arial"/>
              <a:buChar char="•"/>
            </a:pPr>
            <a:r>
              <a:rPr lang="en-US" b="true" sz="274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LSTM 모델</a:t>
            </a:r>
            <a:r>
              <a:rPr lang="en-US" sz="274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을 사용</a:t>
            </a:r>
          </a:p>
          <a:p>
            <a:pPr algn="ctr" marL="593724" indent="-296862" lvl="1">
              <a:lnSpc>
                <a:spcPts val="2969"/>
              </a:lnSpc>
              <a:spcBef>
                <a:spcPct val="0"/>
              </a:spcBef>
              <a:buFont typeface="Arial"/>
              <a:buChar char="•"/>
            </a:pPr>
            <a:r>
              <a:rPr lang="en-US" sz="274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안전재고 90으로 설정시 기회비용 최소화 가능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저성장&amp;#39;에 발목 잡힌 &amp;#39;한국 제조업&amp;#39;… &amp;#39;AI&amp;#39;와 사랑에 빠질 수 있을까 - 인더스트리뉴스"/>
          <p:cNvSpPr/>
          <p:nvPr/>
        </p:nvSpPr>
        <p:spPr>
          <a:xfrm flipH="false" flipV="false" rot="0">
            <a:off x="1" y="1"/>
            <a:ext cx="18288000" cy="10286998"/>
          </a:xfrm>
          <a:custGeom>
            <a:avLst/>
            <a:gdLst/>
            <a:ahLst/>
            <a:cxnLst/>
            <a:rect r="r" b="b" t="t" l="l"/>
            <a:pathLst>
              <a:path h="10286998" w="18288000">
                <a:moveTo>
                  <a:pt x="0" y="0"/>
                </a:moveTo>
                <a:lnTo>
                  <a:pt x="18288001" y="0"/>
                </a:lnTo>
                <a:lnTo>
                  <a:pt x="18288001" y="10286999"/>
                </a:lnTo>
                <a:lnTo>
                  <a:pt x="0" y="102869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7178" b="-1735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9050" y="-1905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1BCB5">
                <a:alpha val="26275"/>
              </a:srgbClr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1810358" y="5182049"/>
            <a:ext cx="4112058" cy="418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44"/>
              </a:lnSpc>
            </a:pPr>
            <a:r>
              <a:rPr lang="en-US" sz="295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it possible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DAGWgQnZhlQ</dc:identifier>
  <dcterms:modified xsi:type="dcterms:W3CDTF">2011-08-01T06:04:30Z</dcterms:modified>
  <cp:revision>1</cp:revision>
  <dc:title>AI_01반_02조.pptx</dc:title>
</cp:coreProperties>
</file>